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members of the technical and security leadership teams. This presentation details Operation NightFalcon, an active intrusion campaign targeting our perimeter OrionGate Secure Access Servers. Threat actors have leveraged a critical zero-day remote code execution vulnerability, tracked as CVE-2026-88421, to bypass boundary access controls. Over the following slides, we will examine the technical finding, affected technology, attack chain progression, validated indicators of compromise, and prioritized remediation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threat overview summarizes the high-level operational posture of the incident. The intrusion represents an active, high-confidence exploitation of perimeter security infrastructure. Adversaries utilize targeted intrusion techniques against OrionGate appliances to execute arbitrary code without prior authentication. The attributed actor is Obsidian Kite, deploying the custom NightFalcon remote access payload. The overall severity is classified as Critical, demanding immediate organizational intervention.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Examining the vulnerability in detail, CVE-2026-88421 resides within the OrionGate Web Gateway authentication endpoint. Specifically, unsafe deserialization of multipart payloads permits unauthenticated remote attackers to execute arbitrary system-level commands. Because the attack complexity is low and requires zero privileges or user interaction, internet-facing servers running versions 7.2.x and 7.3.x are trivially exploitable by automated scanning and exploit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affected scope covers enterprise perimeter deployments running OrionGate Secure Access Server versions 7.2.x through 7.3.x. The campaign has demonstrated targeted activity against high-value industry verticals, including government entities, defense contractors, critical national infrastructure providers, telecommunications carriers, academic research institutions, and financial institutions. Any exposed appliance in these sectors should be treated as potentially compromised.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observed campaign begins with reconnaissance of internet-facing OrionGate servers. The activity progresses through exploitation, remote code execution, NightFalcon deployment, persistence and system discovery before command-and-control communication. Each stage of this forensic sequence has been confirmed through host artifacts and firewall egress telemetry, demonstrating a deliberate and structured operational methodology by the adversary.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Attribution analysis links this activity to the advanced persistent threat group designated Obsidian Kite, also tracked in community intelligence as OK-17 or KiteGroup. The adversary has a documented track record of exploiting perimeter networking gear for strategic intelligence collection. Attribution confidence is assessed as Medium, supported by tactical tradecraft, specialized tool reuse, and infrastructure overlaps with prior cyber espionage campaigns.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Displayed here are the forensic indicators of compromise extracted directly from verified host and network telemetry. These include adversary staging IP addresses, defanged command-and-control domains, executable file artifacts, SHA-256 cryptographic hashes, and the rogue Windows service name. Every security operations team should immediately ingest these values into perimeter security appliances, SIEM search filters, and EDR detection engines.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attack timeline illustrates the rapid cadence of this campaign. Initial adversary scanning was first observed on September 4th, leading to server identification on the 5th and successful exploit execution on the 6th. Within 24 hours of exploitation, the NightFalcon payload was planted and active beaconing was initiated. Our incident detection and containment workflows triggered on September 8th, resulting in this formal advisory.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Detection strategies must operate concurrently across network, endpoint, and web application logging domains. On the network side, monitor egress HTTPS connections directed toward the specified command-and-control IPs and inspect DNS queries for listed domain indicators. At the host level, alert on the execution of nfsvc.exe, unauthorized loading of ogupdate.dll, and registration of OGUpdateService. Review web gateway logs for unusual HTTP 500 error bursts.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Remediation directives are structured into three distinct operational windows. Immediate P0 actions require network administrators to restrict external gateway access, block adversary IP infrastructure, and isolate any host showing indicator matches. Within 24 to 72 hours, apply official vendor security updates and audit privileged credentials. Long-term initiatives focus on implementing zero-trust microsegmentation and enhancing continuous endpoint 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briefing, the core threat stems from active exploitation of OrionGate gateways by adversary Obsidian Kite utilizing the NightFalcon implant. Our collective operational response must remain focused on containment, forensic investigation, patch validation, and heightened detection posture. Note that formal human review and authorization are mandatory prior to external dissemination.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RANSFORMAI_LIGHT">
    <p:bg>
      <p:bgPr>
        <a:solidFill>
          <a:srgbClr val="F8FAF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0" y="0"/>
            <a:ext cx="9144000" cy="137160"/>
          </a:xfrm>
          <a:prstGeom prst="rect">
            <a:avLst/>
          </a:prstGeom>
          <a:solidFill>
            <a:srgbClr val="1E3A8A"/>
          </a:solidFill>
          <a:ln/>
        </p:spPr>
      </p:sp>
      <p:sp>
        <p:nvSpPr>
          <p:cNvPr id="4" name="Text 1"/>
          <p:cNvSpPr/>
          <p:nvPr/>
        </p:nvSpPr>
        <p:spPr>
          <a:xfrm>
            <a:off x="731520" y="731520"/>
            <a:ext cx="2194560" cy="320040"/>
          </a:xfrm>
          <a:prstGeom prst="rect">
            <a:avLst>
              <a:gd name="adj" fmla="val 14286"/>
            </a:avLst>
          </a:prstGeom>
          <a:solidFill>
            <a:srgbClr val="FEF3C7"/>
          </a:solidFill>
          <a:ln/>
        </p:spPr>
        <p:txBody>
          <a:bodyPr wrap="square" rtlCol="0" anchor="ctr"/>
          <a:lstStyle/>
          <a:p>
            <a:pPr algn="ctr" indent="0" marL="0">
              <a:buNone/>
            </a:pPr>
            <a:r>
              <a:rPr lang="en-US" sz="900" b="1" dirty="0">
                <a:solidFill>
                  <a:srgbClr val="92400E"/>
                </a:solidFill>
                <a:latin typeface="Arial" pitchFamily="34" charset="0"/>
                <a:ea typeface="Arial" pitchFamily="34" charset="-122"/>
                <a:cs typeface="Arial" pitchFamily="34" charset="-120"/>
              </a:rPr>
              <a:t>TLP:AMBER+STRICT</a:t>
            </a:r>
            <a:endParaRPr lang="en-US" sz="900" dirty="0"/>
          </a:p>
        </p:txBody>
      </p:sp>
      <p:sp>
        <p:nvSpPr>
          <p:cNvPr id="5" name="Text 2"/>
          <p:cNvSpPr/>
          <p:nvPr/>
        </p:nvSpPr>
        <p:spPr>
          <a:xfrm>
            <a:off x="731520" y="1234440"/>
            <a:ext cx="7680960" cy="777240"/>
          </a:xfrm>
          <a:prstGeom prst="rect">
            <a:avLst/>
          </a:prstGeom>
          <a:noFill/>
          <a:ln/>
        </p:spPr>
        <p:txBody>
          <a:bodyPr wrap="square" rtlCol="0" anchor="ctr"/>
          <a:lstStyle/>
          <a:p>
            <a:pPr indent="0" marL="0">
              <a:buNone/>
            </a:pPr>
            <a:r>
              <a:rPr lang="en-US" sz="3000" b="1" dirty="0">
                <a:solidFill>
                  <a:srgbClr val="0B1930"/>
                </a:solidFill>
                <a:latin typeface="Arial" pitchFamily="34" charset="0"/>
                <a:ea typeface="Arial" pitchFamily="34" charset="-122"/>
                <a:cs typeface="Arial" pitchFamily="34" charset="-120"/>
              </a:rPr>
              <a:t>Operation NightFalcon</a:t>
            </a:r>
            <a:endParaRPr lang="en-US" sz="3000" dirty="0"/>
          </a:p>
        </p:txBody>
      </p:sp>
      <p:sp>
        <p:nvSpPr>
          <p:cNvPr id="6" name="Text 3"/>
          <p:cNvSpPr/>
          <p:nvPr/>
        </p:nvSpPr>
        <p:spPr>
          <a:xfrm>
            <a:off x="731520" y="2011680"/>
            <a:ext cx="7680960" cy="457200"/>
          </a:xfrm>
          <a:prstGeom prst="rect">
            <a:avLst/>
          </a:prstGeom>
          <a:noFill/>
          <a:ln/>
        </p:spPr>
        <p:txBody>
          <a:bodyPr wrap="square" rtlCol="0" anchor="ctr"/>
          <a:lstStyle/>
          <a:p>
            <a:pPr indent="0" marL="0">
              <a:buNone/>
            </a:pPr>
            <a:r>
              <a:rPr lang="en-US" sz="1500" dirty="0">
                <a:solidFill>
                  <a:srgbClr val="1E3A8A"/>
                </a:solidFill>
                <a:latin typeface="Arial" pitchFamily="34" charset="0"/>
                <a:ea typeface="Arial" pitchFamily="34" charset="-122"/>
                <a:cs typeface="Arial" pitchFamily="34" charset="-120"/>
              </a:rPr>
              <a:t>Targeted Exploitation of OrionGate Secure Access Servers</a:t>
            </a:r>
            <a:endParaRPr lang="en-US" sz="1500" dirty="0"/>
          </a:p>
        </p:txBody>
      </p:sp>
      <p:sp>
        <p:nvSpPr>
          <p:cNvPr id="7" name="Shape 4"/>
          <p:cNvSpPr/>
          <p:nvPr/>
        </p:nvSpPr>
        <p:spPr>
          <a:xfrm>
            <a:off x="731520" y="3017520"/>
            <a:ext cx="1536192" cy="868680"/>
          </a:xfrm>
          <a:prstGeom prst="roundRect">
            <a:avLst>
              <a:gd name="adj" fmla="val 5263"/>
            </a:avLst>
          </a:prstGeom>
          <a:solidFill>
            <a:srgbClr val="FEE2E2"/>
          </a:solidFill>
          <a:ln w="9525">
            <a:solidFill>
              <a:srgbClr val="CBD5E1"/>
            </a:solidFill>
            <a:prstDash val="solid"/>
          </a:ln>
        </p:spPr>
      </p:sp>
      <p:sp>
        <p:nvSpPr>
          <p:cNvPr id="8" name="Text 5"/>
          <p:cNvSpPr/>
          <p:nvPr/>
        </p:nvSpPr>
        <p:spPr>
          <a:xfrm>
            <a:off x="804672" y="3090672"/>
            <a:ext cx="1389888" cy="201168"/>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SEVERITY</a:t>
            </a:r>
            <a:endParaRPr lang="en-US" sz="800" dirty="0"/>
          </a:p>
        </p:txBody>
      </p:sp>
      <p:sp>
        <p:nvSpPr>
          <p:cNvPr id="9" name="Text 6"/>
          <p:cNvSpPr/>
          <p:nvPr/>
        </p:nvSpPr>
        <p:spPr>
          <a:xfrm>
            <a:off x="804672" y="3337560"/>
            <a:ext cx="1389888" cy="457200"/>
          </a:xfrm>
          <a:prstGeom prst="rect">
            <a:avLst/>
          </a:prstGeom>
          <a:noFill/>
          <a:ln/>
        </p:spPr>
        <p:txBody>
          <a:bodyPr wrap="square" rtlCol="0" anchor="ctr"/>
          <a:lstStyle/>
          <a:p>
            <a:pPr indent="0" marL="0">
              <a:buNone/>
            </a:pPr>
            <a:r>
              <a:rPr lang="en-US" sz="950" b="1" dirty="0">
                <a:solidFill>
                  <a:srgbClr val="991B1B"/>
                </a:solidFill>
                <a:latin typeface="Arial" pitchFamily="34" charset="0"/>
                <a:ea typeface="Arial" pitchFamily="34" charset="-122"/>
                <a:cs typeface="Arial" pitchFamily="34" charset="-120"/>
              </a:rPr>
              <a:t>CRITICAL</a:t>
            </a:r>
            <a:endParaRPr lang="en-US" sz="950" dirty="0"/>
          </a:p>
        </p:txBody>
      </p:sp>
      <p:sp>
        <p:nvSpPr>
          <p:cNvPr id="10" name="Shape 7"/>
          <p:cNvSpPr/>
          <p:nvPr/>
        </p:nvSpPr>
        <p:spPr>
          <a:xfrm>
            <a:off x="2377440" y="3017520"/>
            <a:ext cx="1536192" cy="868680"/>
          </a:xfrm>
          <a:prstGeom prst="roundRect">
            <a:avLst>
              <a:gd name="adj" fmla="val 5263"/>
            </a:avLst>
          </a:prstGeom>
          <a:solidFill>
            <a:srgbClr val="EFF6FF"/>
          </a:solidFill>
          <a:ln w="9525">
            <a:solidFill>
              <a:srgbClr val="CBD5E1"/>
            </a:solidFill>
            <a:prstDash val="solid"/>
          </a:ln>
        </p:spPr>
      </p:sp>
      <p:sp>
        <p:nvSpPr>
          <p:cNvPr id="11" name="Text 8"/>
          <p:cNvSpPr/>
          <p:nvPr/>
        </p:nvSpPr>
        <p:spPr>
          <a:xfrm>
            <a:off x="2450592" y="3090672"/>
            <a:ext cx="1389888" cy="201168"/>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CONFIDENCE</a:t>
            </a:r>
            <a:endParaRPr lang="en-US" sz="800" dirty="0"/>
          </a:p>
        </p:txBody>
      </p:sp>
      <p:sp>
        <p:nvSpPr>
          <p:cNvPr id="12" name="Text 9"/>
          <p:cNvSpPr/>
          <p:nvPr/>
        </p:nvSpPr>
        <p:spPr>
          <a:xfrm>
            <a:off x="2450592" y="3337560"/>
            <a:ext cx="1389888" cy="457200"/>
          </a:xfrm>
          <a:prstGeom prst="rect">
            <a:avLst/>
          </a:prstGeom>
          <a:noFill/>
          <a:ln/>
        </p:spPr>
        <p:txBody>
          <a:bodyPr wrap="square" rtlCol="0" anchor="ctr"/>
          <a:lstStyle/>
          <a:p>
            <a:pPr indent="0" marL="0">
              <a:buNone/>
            </a:pPr>
            <a:r>
              <a:rPr lang="en-US" sz="950" b="1" dirty="0">
                <a:solidFill>
                  <a:srgbClr val="1E3A8A"/>
                </a:solidFill>
                <a:latin typeface="Arial" pitchFamily="34" charset="0"/>
                <a:ea typeface="Arial" pitchFamily="34" charset="-122"/>
                <a:cs typeface="Arial" pitchFamily="34" charset="-120"/>
              </a:rPr>
              <a:t>HIGH CONFIDENCE</a:t>
            </a:r>
            <a:endParaRPr lang="en-US" sz="950" dirty="0"/>
          </a:p>
        </p:txBody>
      </p:sp>
      <p:sp>
        <p:nvSpPr>
          <p:cNvPr id="13" name="Shape 10"/>
          <p:cNvSpPr/>
          <p:nvPr/>
        </p:nvSpPr>
        <p:spPr>
          <a:xfrm>
            <a:off x="4023360" y="3017520"/>
            <a:ext cx="1536192" cy="868680"/>
          </a:xfrm>
          <a:prstGeom prst="roundRect">
            <a:avLst>
              <a:gd name="adj" fmla="val 5263"/>
            </a:avLst>
          </a:prstGeom>
          <a:solidFill>
            <a:srgbClr val="FFFFFF"/>
          </a:solidFill>
          <a:ln w="9525">
            <a:solidFill>
              <a:srgbClr val="CBD5E1"/>
            </a:solidFill>
            <a:prstDash val="solid"/>
          </a:ln>
        </p:spPr>
      </p:sp>
      <p:sp>
        <p:nvSpPr>
          <p:cNvPr id="14" name="Text 11"/>
          <p:cNvSpPr/>
          <p:nvPr/>
        </p:nvSpPr>
        <p:spPr>
          <a:xfrm>
            <a:off x="4096512" y="3090672"/>
            <a:ext cx="1389888" cy="201168"/>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CVE ID</a:t>
            </a:r>
            <a:endParaRPr lang="en-US" sz="800" dirty="0"/>
          </a:p>
        </p:txBody>
      </p:sp>
      <p:sp>
        <p:nvSpPr>
          <p:cNvPr id="15" name="Text 12"/>
          <p:cNvSpPr/>
          <p:nvPr/>
        </p:nvSpPr>
        <p:spPr>
          <a:xfrm>
            <a:off x="4096512" y="3337560"/>
            <a:ext cx="1389888" cy="457200"/>
          </a:xfrm>
          <a:prstGeom prst="rect">
            <a:avLst/>
          </a:prstGeom>
          <a:noFill/>
          <a:ln/>
        </p:spPr>
        <p:txBody>
          <a:bodyPr wrap="square" rtlCol="0" anchor="ctr"/>
          <a:lstStyle/>
          <a:p>
            <a:pPr indent="0" marL="0">
              <a:buNone/>
            </a:pPr>
            <a:r>
              <a:rPr lang="en-US" sz="950" b="1" dirty="0">
                <a:solidFill>
                  <a:srgbClr val="0B1930"/>
                </a:solidFill>
                <a:latin typeface="Arial" pitchFamily="34" charset="0"/>
                <a:ea typeface="Arial" pitchFamily="34" charset="-122"/>
                <a:cs typeface="Arial" pitchFamily="34" charset="-120"/>
              </a:rPr>
              <a:t>CVE-2026-88421</a:t>
            </a:r>
            <a:endParaRPr lang="en-US" sz="950" dirty="0"/>
          </a:p>
        </p:txBody>
      </p:sp>
      <p:sp>
        <p:nvSpPr>
          <p:cNvPr id="16" name="Shape 13"/>
          <p:cNvSpPr/>
          <p:nvPr/>
        </p:nvSpPr>
        <p:spPr>
          <a:xfrm>
            <a:off x="5669280" y="3017520"/>
            <a:ext cx="1536192" cy="868680"/>
          </a:xfrm>
          <a:prstGeom prst="roundRect">
            <a:avLst>
              <a:gd name="adj" fmla="val 5263"/>
            </a:avLst>
          </a:prstGeom>
          <a:solidFill>
            <a:srgbClr val="FFFFFF"/>
          </a:solidFill>
          <a:ln w="9525">
            <a:solidFill>
              <a:srgbClr val="CBD5E1"/>
            </a:solidFill>
            <a:prstDash val="solid"/>
          </a:ln>
        </p:spPr>
      </p:sp>
      <p:sp>
        <p:nvSpPr>
          <p:cNvPr id="17" name="Text 14"/>
          <p:cNvSpPr/>
          <p:nvPr/>
        </p:nvSpPr>
        <p:spPr>
          <a:xfrm>
            <a:off x="5742432" y="3090672"/>
            <a:ext cx="1389888" cy="201168"/>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ADVISORY ID</a:t>
            </a:r>
            <a:endParaRPr lang="en-US" sz="800" dirty="0"/>
          </a:p>
        </p:txBody>
      </p:sp>
      <p:sp>
        <p:nvSpPr>
          <p:cNvPr id="18" name="Text 15"/>
          <p:cNvSpPr/>
          <p:nvPr/>
        </p:nvSpPr>
        <p:spPr>
          <a:xfrm>
            <a:off x="5742432" y="3337560"/>
            <a:ext cx="1389888" cy="457200"/>
          </a:xfrm>
          <a:prstGeom prst="rect">
            <a:avLst/>
          </a:prstGeom>
          <a:noFill/>
          <a:ln/>
        </p:spPr>
        <p:txBody>
          <a:bodyPr wrap="square" rtlCol="0" anchor="ctr"/>
          <a:lstStyle/>
          <a:p>
            <a:pPr indent="0" marL="0">
              <a:buNone/>
            </a:pPr>
            <a:r>
              <a:rPr lang="en-US" sz="950" b="1" dirty="0">
                <a:solidFill>
                  <a:srgbClr val="0B1930"/>
                </a:solidFill>
                <a:latin typeface="Arial" pitchFamily="34" charset="0"/>
                <a:ea typeface="Arial" pitchFamily="34" charset="-122"/>
                <a:cs typeface="Arial" pitchFamily="34" charset="-120"/>
              </a:rPr>
              <a:t>TAI-ADV-2026-88421</a:t>
            </a:r>
            <a:endParaRPr lang="en-US" sz="950" dirty="0"/>
          </a:p>
        </p:txBody>
      </p:sp>
      <p:sp>
        <p:nvSpPr>
          <p:cNvPr id="19" name="Shape 16"/>
          <p:cNvSpPr/>
          <p:nvPr/>
        </p:nvSpPr>
        <p:spPr>
          <a:xfrm>
            <a:off x="7315200" y="3017520"/>
            <a:ext cx="1536192" cy="868680"/>
          </a:xfrm>
          <a:prstGeom prst="roundRect">
            <a:avLst>
              <a:gd name="adj" fmla="val 5263"/>
            </a:avLst>
          </a:prstGeom>
          <a:solidFill>
            <a:srgbClr val="FFFFFF"/>
          </a:solidFill>
          <a:ln w="9525">
            <a:solidFill>
              <a:srgbClr val="CBD5E1"/>
            </a:solidFill>
            <a:prstDash val="solid"/>
          </a:ln>
        </p:spPr>
      </p:sp>
      <p:sp>
        <p:nvSpPr>
          <p:cNvPr id="20" name="Text 17"/>
          <p:cNvSpPr/>
          <p:nvPr/>
        </p:nvSpPr>
        <p:spPr>
          <a:xfrm>
            <a:off x="7388352" y="3090672"/>
            <a:ext cx="1389888" cy="201168"/>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DATE</a:t>
            </a:r>
            <a:endParaRPr lang="en-US" sz="800" dirty="0"/>
          </a:p>
        </p:txBody>
      </p:sp>
      <p:sp>
        <p:nvSpPr>
          <p:cNvPr id="21" name="Text 18"/>
          <p:cNvSpPr/>
          <p:nvPr/>
        </p:nvSpPr>
        <p:spPr>
          <a:xfrm>
            <a:off x="7388352" y="3337560"/>
            <a:ext cx="1389888" cy="457200"/>
          </a:xfrm>
          <a:prstGeom prst="rect">
            <a:avLst/>
          </a:prstGeom>
          <a:noFill/>
          <a:ln/>
        </p:spPr>
        <p:txBody>
          <a:bodyPr wrap="square" rtlCol="0" anchor="ctr"/>
          <a:lstStyle/>
          <a:p>
            <a:pPr indent="0" marL="0">
              <a:buNone/>
            </a:pPr>
            <a:r>
              <a:rPr lang="en-US" sz="950" b="1" dirty="0">
                <a:solidFill>
                  <a:srgbClr val="0B1930"/>
                </a:solidFill>
                <a:latin typeface="Arial" pitchFamily="34" charset="0"/>
                <a:ea typeface="Arial" pitchFamily="34" charset="-122"/>
                <a:cs typeface="Arial" pitchFamily="34" charset="-120"/>
              </a:rPr>
              <a:t>08 September 2026</a:t>
            </a:r>
            <a:endParaRPr lang="en-US" sz="950" dirty="0"/>
          </a:p>
        </p:txBody>
      </p:sp>
      <p:sp>
        <p:nvSpPr>
          <p:cNvPr id="22" name="Text 19"/>
          <p:cNvSpPr/>
          <p:nvPr/>
        </p:nvSpPr>
        <p:spPr>
          <a:xfrm>
            <a:off x="731520" y="4434840"/>
            <a:ext cx="768096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TransformAI Grounded Intelligence Engine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hape 0"/>
          <p:cNvSpPr/>
          <p:nvPr/>
        </p:nvSpPr>
        <p:spPr>
          <a:xfrm>
            <a:off x="548640" y="4572000"/>
            <a:ext cx="8046720" cy="18288"/>
          </a:xfrm>
          <a:prstGeom prst="rect">
            <a:avLst/>
          </a:prstGeom>
          <a:solidFill>
            <a:srgbClr val="CBD5E1"/>
          </a:solidFill>
          <a:ln w="12700">
            <a:solidFill>
              <a:srgbClr val="CBD5E1"/>
            </a:solidFill>
            <a:prstDash val="solid"/>
          </a:ln>
        </p:spPr>
      </p:sp>
      <p:sp>
        <p:nvSpPr>
          <p:cNvPr id="4" name="Text 1"/>
          <p:cNvSpPr/>
          <p:nvPr/>
        </p:nvSpPr>
        <p:spPr>
          <a:xfrm>
            <a:off x="548640" y="4663440"/>
            <a:ext cx="5486400" cy="27432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TRANSFORMAI GROUNDED INTELLIGENCE ENGINE  |  ADVISORY ID: TAI-ADV-2026-88421</a:t>
            </a:r>
            <a:endParaRPr lang="en-US" sz="800" dirty="0"/>
          </a:p>
        </p:txBody>
      </p:sp>
      <p:sp>
        <p:nvSpPr>
          <p:cNvPr id="5" name="Text 2"/>
          <p:cNvSpPr/>
          <p:nvPr/>
        </p:nvSpPr>
        <p:spPr>
          <a:xfrm>
            <a:off x="6035040" y="4663440"/>
            <a:ext cx="2560320" cy="274320"/>
          </a:xfrm>
          <a:prstGeom prst="rect">
            <a:avLst/>
          </a:prstGeom>
          <a:noFill/>
          <a:ln/>
        </p:spPr>
        <p:txBody>
          <a:bodyPr wrap="square" rtlCol="0" anchor="ctr"/>
          <a:lstStyle/>
          <a:p>
            <a:pPr algn="r" indent="0" marL="0">
              <a:buNone/>
            </a:pPr>
            <a:r>
              <a:rPr lang="en-US" sz="800" b="1" dirty="0">
                <a:solidFill>
                  <a:srgbClr val="64748B"/>
                </a:solidFill>
                <a:latin typeface="Arial" pitchFamily="34" charset="0"/>
                <a:ea typeface="Arial" pitchFamily="34" charset="-122"/>
                <a:cs typeface="Arial" pitchFamily="34" charset="-120"/>
              </a:rPr>
              <a:t>TLP:AMBER+STRICT  |  SLIDE 2 OF 11</a:t>
            </a:r>
            <a:endParaRPr lang="en-US" sz="800" dirty="0"/>
          </a:p>
        </p:txBody>
      </p:sp>
      <p:sp>
        <p:nvSpPr>
          <p:cNvPr id="6" name="Text 3"/>
          <p:cNvSpPr/>
          <p:nvPr/>
        </p:nvSpPr>
        <p:spPr>
          <a:xfrm>
            <a:off x="5943600" y="320040"/>
            <a:ext cx="2651760" cy="256032"/>
          </a:xfrm>
          <a:prstGeom prst="rect">
            <a:avLst/>
          </a:prstGeom>
          <a:noFill/>
          <a:ln/>
        </p:spPr>
        <p:txBody>
          <a:bodyPr wrap="square" rtlCol="0" anchor="ctr"/>
          <a:lstStyle/>
          <a:p>
            <a:pPr algn="r" indent="0" marL="0">
              <a:buNone/>
            </a:pPr>
            <a:r>
              <a:rPr lang="en-US" sz="800" i="1" dirty="0">
                <a:solidFill>
                  <a:srgbClr val="64748B"/>
                </a:solidFill>
                <a:latin typeface="Arial" pitchFamily="34" charset="0"/>
                <a:ea typeface="Arial" pitchFamily="34" charset="-122"/>
                <a:cs typeface="Arial" pitchFamily="34" charset="-120"/>
              </a:rPr>
              <a:t>Source: TAI-ADV-2026-88421, Section 1–2</a:t>
            </a:r>
            <a:endParaRPr lang="en-US" sz="800" dirty="0"/>
          </a:p>
        </p:txBody>
      </p:sp>
      <p:sp>
        <p:nvSpPr>
          <p:cNvPr id="7" name="Text 4"/>
          <p:cNvSpPr/>
          <p:nvPr/>
        </p:nvSpPr>
        <p:spPr>
          <a:xfrm>
            <a:off x="548640" y="320040"/>
            <a:ext cx="4114800" cy="228600"/>
          </a:xfrm>
          <a:prstGeom prst="rect">
            <a:avLst/>
          </a:prstGeom>
          <a:noFill/>
          <a:ln/>
        </p:spPr>
        <p:txBody>
          <a:bodyPr wrap="square" rtlCol="0" anchor="ctr"/>
          <a:lstStyle/>
          <a:p>
            <a:pPr indent="0" marL="0">
              <a:buNone/>
            </a:pPr>
            <a:r>
              <a:rPr lang="en-US" sz="800" b="1" dirty="0">
                <a:solidFill>
                  <a:srgbClr val="1E3A8A"/>
                </a:solidFill>
                <a:latin typeface="Arial" pitchFamily="34" charset="0"/>
                <a:ea typeface="Arial" pitchFamily="34" charset="-122"/>
                <a:cs typeface="Arial" pitchFamily="34" charset="-120"/>
              </a:rPr>
              <a:t>THREAT INTELLIGENCE</a:t>
            </a:r>
            <a:endParaRPr lang="en-US" sz="800" dirty="0"/>
          </a:p>
        </p:txBody>
      </p:sp>
      <p:sp>
        <p:nvSpPr>
          <p:cNvPr id="8" name="Text 5"/>
          <p:cNvSpPr/>
          <p:nvPr/>
        </p:nvSpPr>
        <p:spPr>
          <a:xfrm>
            <a:off x="548640" y="548640"/>
            <a:ext cx="7772400" cy="411480"/>
          </a:xfrm>
          <a:prstGeom prst="rect">
            <a:avLst/>
          </a:prstGeom>
          <a:noFill/>
          <a:ln/>
        </p:spPr>
        <p:txBody>
          <a:bodyPr wrap="square" rtlCol="0" anchor="ctr"/>
          <a:lstStyle/>
          <a:p>
            <a:pPr indent="0" marL="0">
              <a:buNone/>
            </a:pPr>
            <a:r>
              <a:rPr lang="en-US" sz="2000" b="1" dirty="0">
                <a:solidFill>
                  <a:srgbClr val="0B1930"/>
                </a:solidFill>
                <a:latin typeface="Arial" pitchFamily="34" charset="0"/>
                <a:ea typeface="Arial" pitchFamily="34" charset="-122"/>
                <a:cs typeface="Arial" pitchFamily="34" charset="-120"/>
              </a:rPr>
              <a:t>Threat Overview</a:t>
            </a:r>
            <a:endParaRPr lang="en-US" sz="2000" dirty="0"/>
          </a:p>
        </p:txBody>
      </p:sp>
      <p:sp>
        <p:nvSpPr>
          <p:cNvPr id="9" name="Text 6"/>
          <p:cNvSpPr/>
          <p:nvPr/>
        </p:nvSpPr>
        <p:spPr>
          <a:xfrm>
            <a:off x="548640" y="960120"/>
            <a:ext cx="77724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Core Threat Attributes &amp; Technical Classification</a:t>
            </a:r>
            <a:endParaRPr lang="en-US" sz="1000" dirty="0"/>
          </a:p>
        </p:txBody>
      </p:sp>
      <p:sp>
        <p:nvSpPr>
          <p:cNvPr id="10" name="Shape 7"/>
          <p:cNvSpPr/>
          <p:nvPr/>
        </p:nvSpPr>
        <p:spPr>
          <a:xfrm>
            <a:off x="548640" y="1325880"/>
            <a:ext cx="3931920" cy="896112"/>
          </a:xfrm>
          <a:prstGeom prst="roundRect">
            <a:avLst>
              <a:gd name="adj" fmla="val 6122"/>
            </a:avLst>
          </a:prstGeom>
          <a:solidFill>
            <a:srgbClr val="FFFFFF"/>
          </a:solidFill>
          <a:ln w="9525">
            <a:solidFill>
              <a:srgbClr val="CBD5E1"/>
            </a:solidFill>
            <a:prstDash val="solid"/>
          </a:ln>
        </p:spPr>
      </p:sp>
      <p:sp>
        <p:nvSpPr>
          <p:cNvPr id="11" name="Text 8"/>
          <p:cNvSpPr/>
          <p:nvPr/>
        </p:nvSpPr>
        <p:spPr>
          <a:xfrm>
            <a:off x="731520" y="1417320"/>
            <a:ext cx="3566160" cy="201168"/>
          </a:xfrm>
          <a:prstGeom prst="rect">
            <a:avLst/>
          </a:prstGeom>
          <a:noFill/>
          <a:ln/>
        </p:spPr>
        <p:txBody>
          <a:bodyPr wrap="square" rtlCol="0" anchor="ctr"/>
          <a:lstStyle/>
          <a:p>
            <a:pPr indent="0" marL="0">
              <a:buNone/>
            </a:pPr>
            <a:r>
              <a:rPr lang="en-US" sz="850" b="1" dirty="0">
                <a:solidFill>
                  <a:srgbClr val="64748B"/>
                </a:solidFill>
                <a:latin typeface="Arial" pitchFamily="34" charset="0"/>
                <a:ea typeface="Arial" pitchFamily="34" charset="-122"/>
                <a:cs typeface="Arial" pitchFamily="34" charset="-120"/>
              </a:rPr>
              <a:t>THREAT TYPE</a:t>
            </a:r>
            <a:endParaRPr lang="en-US" sz="850" dirty="0"/>
          </a:p>
        </p:txBody>
      </p:sp>
      <p:sp>
        <p:nvSpPr>
          <p:cNvPr id="12" name="Text 9"/>
          <p:cNvSpPr/>
          <p:nvPr/>
        </p:nvSpPr>
        <p:spPr>
          <a:xfrm>
            <a:off x="731520" y="1655064"/>
            <a:ext cx="3566160" cy="457200"/>
          </a:xfrm>
          <a:prstGeom prst="rect">
            <a:avLst/>
          </a:prstGeom>
          <a:noFill/>
          <a:ln/>
        </p:spPr>
        <p:txBody>
          <a:bodyPr wrap="square" rtlCol="0" anchor="ctr"/>
          <a:lstStyle/>
          <a:p>
            <a:pPr indent="0" marL="0">
              <a:buNone/>
            </a:pPr>
            <a:r>
              <a:rPr lang="en-US" sz="1200" b="1" dirty="0">
                <a:solidFill>
                  <a:srgbClr val="0B1930"/>
                </a:solidFill>
                <a:latin typeface="Arial" pitchFamily="34" charset="0"/>
                <a:ea typeface="Arial" pitchFamily="34" charset="-122"/>
                <a:cs typeface="Arial" pitchFamily="34" charset="-120"/>
              </a:rPr>
              <a:t>Targeted Intrusion / Remote Code Execution</a:t>
            </a:r>
            <a:endParaRPr lang="en-US" sz="1200" dirty="0"/>
          </a:p>
        </p:txBody>
      </p:sp>
      <p:sp>
        <p:nvSpPr>
          <p:cNvPr id="13" name="Shape 10"/>
          <p:cNvSpPr/>
          <p:nvPr/>
        </p:nvSpPr>
        <p:spPr>
          <a:xfrm>
            <a:off x="4663440" y="1325880"/>
            <a:ext cx="3931920" cy="896112"/>
          </a:xfrm>
          <a:prstGeom prst="roundRect">
            <a:avLst>
              <a:gd name="adj" fmla="val 6122"/>
            </a:avLst>
          </a:prstGeom>
          <a:solidFill>
            <a:srgbClr val="FEE2E2"/>
          </a:solidFill>
          <a:ln w="9525">
            <a:solidFill>
              <a:srgbClr val="991B1B"/>
            </a:solidFill>
            <a:prstDash val="solid"/>
          </a:ln>
        </p:spPr>
      </p:sp>
      <p:sp>
        <p:nvSpPr>
          <p:cNvPr id="14" name="Text 11"/>
          <p:cNvSpPr/>
          <p:nvPr/>
        </p:nvSpPr>
        <p:spPr>
          <a:xfrm>
            <a:off x="4846320" y="1417320"/>
            <a:ext cx="3566160" cy="201168"/>
          </a:xfrm>
          <a:prstGeom prst="rect">
            <a:avLst/>
          </a:prstGeom>
          <a:noFill/>
          <a:ln/>
        </p:spPr>
        <p:txBody>
          <a:bodyPr wrap="square" rtlCol="0" anchor="ctr"/>
          <a:lstStyle/>
          <a:p>
            <a:pPr indent="0" marL="0">
              <a:buNone/>
            </a:pPr>
            <a:r>
              <a:rPr lang="en-US" sz="850" b="1" dirty="0">
                <a:solidFill>
                  <a:srgbClr val="64748B"/>
                </a:solidFill>
                <a:latin typeface="Arial" pitchFamily="34" charset="0"/>
                <a:ea typeface="Arial" pitchFamily="34" charset="-122"/>
                <a:cs typeface="Arial" pitchFamily="34" charset="-120"/>
              </a:rPr>
              <a:t>SEVERITY</a:t>
            </a:r>
            <a:endParaRPr lang="en-US" sz="850" dirty="0"/>
          </a:p>
        </p:txBody>
      </p:sp>
      <p:sp>
        <p:nvSpPr>
          <p:cNvPr id="15" name="Text 12"/>
          <p:cNvSpPr/>
          <p:nvPr/>
        </p:nvSpPr>
        <p:spPr>
          <a:xfrm>
            <a:off x="4846320" y="1655064"/>
            <a:ext cx="3566160" cy="457200"/>
          </a:xfrm>
          <a:prstGeom prst="rect">
            <a:avLst/>
          </a:prstGeom>
          <a:noFill/>
          <a:ln/>
        </p:spPr>
        <p:txBody>
          <a:bodyPr wrap="square" rtlCol="0" anchor="ctr"/>
          <a:lstStyle/>
          <a:p>
            <a:pPr indent="0" marL="0">
              <a:buNone/>
            </a:pPr>
            <a:r>
              <a:rPr lang="en-US" sz="1200" b="1" dirty="0">
                <a:solidFill>
                  <a:srgbClr val="991B1B"/>
                </a:solidFill>
                <a:latin typeface="Arial" pitchFamily="34" charset="0"/>
                <a:ea typeface="Arial" pitchFamily="34" charset="-122"/>
                <a:cs typeface="Arial" pitchFamily="34" charset="-120"/>
              </a:rPr>
              <a:t>CRITICAL (CVSS 9.8)</a:t>
            </a:r>
            <a:endParaRPr lang="en-US" sz="1200" dirty="0"/>
          </a:p>
        </p:txBody>
      </p:sp>
      <p:sp>
        <p:nvSpPr>
          <p:cNvPr id="16" name="Shape 13"/>
          <p:cNvSpPr/>
          <p:nvPr/>
        </p:nvSpPr>
        <p:spPr>
          <a:xfrm>
            <a:off x="548640" y="2331720"/>
            <a:ext cx="3931920" cy="896112"/>
          </a:xfrm>
          <a:prstGeom prst="roundRect">
            <a:avLst>
              <a:gd name="adj" fmla="val 6122"/>
            </a:avLst>
          </a:prstGeom>
          <a:solidFill>
            <a:srgbClr val="FFFFFF"/>
          </a:solidFill>
          <a:ln w="9525">
            <a:solidFill>
              <a:srgbClr val="CBD5E1"/>
            </a:solidFill>
            <a:prstDash val="solid"/>
          </a:ln>
        </p:spPr>
      </p:sp>
      <p:sp>
        <p:nvSpPr>
          <p:cNvPr id="17" name="Text 14"/>
          <p:cNvSpPr/>
          <p:nvPr/>
        </p:nvSpPr>
        <p:spPr>
          <a:xfrm>
            <a:off x="731520" y="2423160"/>
            <a:ext cx="3566160" cy="201168"/>
          </a:xfrm>
          <a:prstGeom prst="rect">
            <a:avLst/>
          </a:prstGeom>
          <a:noFill/>
          <a:ln/>
        </p:spPr>
        <p:txBody>
          <a:bodyPr wrap="square" rtlCol="0" anchor="ctr"/>
          <a:lstStyle/>
          <a:p>
            <a:pPr indent="0" marL="0">
              <a:buNone/>
            </a:pPr>
            <a:r>
              <a:rPr lang="en-US" sz="850" b="1" dirty="0">
                <a:solidFill>
                  <a:srgbClr val="64748B"/>
                </a:solidFill>
                <a:latin typeface="Arial" pitchFamily="34" charset="0"/>
                <a:ea typeface="Arial" pitchFamily="34" charset="-122"/>
                <a:cs typeface="Arial" pitchFamily="34" charset="-120"/>
              </a:rPr>
              <a:t>CONFIDENCE</a:t>
            </a:r>
            <a:endParaRPr lang="en-US" sz="850" dirty="0"/>
          </a:p>
        </p:txBody>
      </p:sp>
      <p:sp>
        <p:nvSpPr>
          <p:cNvPr id="18" name="Text 15"/>
          <p:cNvSpPr/>
          <p:nvPr/>
        </p:nvSpPr>
        <p:spPr>
          <a:xfrm>
            <a:off x="731520" y="2660904"/>
            <a:ext cx="3566160" cy="457200"/>
          </a:xfrm>
          <a:prstGeom prst="rect">
            <a:avLst/>
          </a:prstGeom>
          <a:noFill/>
          <a:ln/>
        </p:spPr>
        <p:txBody>
          <a:bodyPr wrap="square" rtlCol="0" anchor="ctr"/>
          <a:lstStyle/>
          <a:p>
            <a:pPr indent="0" marL="0">
              <a:buNone/>
            </a:pPr>
            <a:r>
              <a:rPr lang="en-US" sz="1200" b="1" dirty="0">
                <a:solidFill>
                  <a:srgbClr val="0B1930"/>
                </a:solidFill>
                <a:latin typeface="Arial" pitchFamily="34" charset="0"/>
                <a:ea typeface="Arial" pitchFamily="34" charset="-122"/>
                <a:cs typeface="Arial" pitchFamily="34" charset="-120"/>
              </a:rPr>
              <a:t>HIGH CONFIDENCE</a:t>
            </a:r>
            <a:endParaRPr lang="en-US" sz="1200" dirty="0"/>
          </a:p>
        </p:txBody>
      </p:sp>
      <p:sp>
        <p:nvSpPr>
          <p:cNvPr id="19" name="Shape 16"/>
          <p:cNvSpPr/>
          <p:nvPr/>
        </p:nvSpPr>
        <p:spPr>
          <a:xfrm>
            <a:off x="4663440" y="2331720"/>
            <a:ext cx="3931920" cy="896112"/>
          </a:xfrm>
          <a:prstGeom prst="roundRect">
            <a:avLst>
              <a:gd name="adj" fmla="val 6122"/>
            </a:avLst>
          </a:prstGeom>
          <a:solidFill>
            <a:srgbClr val="FFFFFF"/>
          </a:solidFill>
          <a:ln w="9525">
            <a:solidFill>
              <a:srgbClr val="CBD5E1"/>
            </a:solidFill>
            <a:prstDash val="solid"/>
          </a:ln>
        </p:spPr>
      </p:sp>
      <p:sp>
        <p:nvSpPr>
          <p:cNvPr id="20" name="Text 17"/>
          <p:cNvSpPr/>
          <p:nvPr/>
        </p:nvSpPr>
        <p:spPr>
          <a:xfrm>
            <a:off x="4846320" y="2423160"/>
            <a:ext cx="3566160" cy="201168"/>
          </a:xfrm>
          <a:prstGeom prst="rect">
            <a:avLst/>
          </a:prstGeom>
          <a:noFill/>
          <a:ln/>
        </p:spPr>
        <p:txBody>
          <a:bodyPr wrap="square" rtlCol="0" anchor="ctr"/>
          <a:lstStyle/>
          <a:p>
            <a:pPr indent="0" marL="0">
              <a:buNone/>
            </a:pPr>
            <a:r>
              <a:rPr lang="en-US" sz="850" b="1" dirty="0">
                <a:solidFill>
                  <a:srgbClr val="64748B"/>
                </a:solidFill>
                <a:latin typeface="Arial" pitchFamily="34" charset="0"/>
                <a:ea typeface="Arial" pitchFamily="34" charset="-122"/>
                <a:cs typeface="Arial" pitchFamily="34" charset="-120"/>
              </a:rPr>
              <a:t>AFFECTED TECHNOLOGY</a:t>
            </a:r>
            <a:endParaRPr lang="en-US" sz="850" dirty="0"/>
          </a:p>
        </p:txBody>
      </p:sp>
      <p:sp>
        <p:nvSpPr>
          <p:cNvPr id="21" name="Text 18"/>
          <p:cNvSpPr/>
          <p:nvPr/>
        </p:nvSpPr>
        <p:spPr>
          <a:xfrm>
            <a:off x="4846320" y="2660904"/>
            <a:ext cx="3566160" cy="457200"/>
          </a:xfrm>
          <a:prstGeom prst="rect">
            <a:avLst/>
          </a:prstGeom>
          <a:noFill/>
          <a:ln/>
        </p:spPr>
        <p:txBody>
          <a:bodyPr wrap="square" rtlCol="0" anchor="ctr"/>
          <a:lstStyle/>
          <a:p>
            <a:pPr indent="0" marL="0">
              <a:buNone/>
            </a:pPr>
            <a:r>
              <a:rPr lang="en-US" sz="1200" b="1" dirty="0">
                <a:solidFill>
                  <a:srgbClr val="0B1930"/>
                </a:solidFill>
                <a:latin typeface="Arial" pitchFamily="34" charset="0"/>
                <a:ea typeface="Arial" pitchFamily="34" charset="-122"/>
                <a:cs typeface="Arial" pitchFamily="34" charset="-120"/>
              </a:rPr>
              <a:t>OrionGate Secure Access Server</a:t>
            </a:r>
            <a:endParaRPr lang="en-US" sz="1200" dirty="0"/>
          </a:p>
        </p:txBody>
      </p:sp>
      <p:sp>
        <p:nvSpPr>
          <p:cNvPr id="22" name="Shape 19"/>
          <p:cNvSpPr/>
          <p:nvPr/>
        </p:nvSpPr>
        <p:spPr>
          <a:xfrm>
            <a:off x="548640" y="3337560"/>
            <a:ext cx="3931920" cy="896112"/>
          </a:xfrm>
          <a:prstGeom prst="roundRect">
            <a:avLst>
              <a:gd name="adj" fmla="val 6122"/>
            </a:avLst>
          </a:prstGeom>
          <a:solidFill>
            <a:srgbClr val="FFFFFF"/>
          </a:solidFill>
          <a:ln w="9525">
            <a:solidFill>
              <a:srgbClr val="CBD5E1"/>
            </a:solidFill>
            <a:prstDash val="solid"/>
          </a:ln>
        </p:spPr>
      </p:sp>
      <p:sp>
        <p:nvSpPr>
          <p:cNvPr id="23" name="Text 20"/>
          <p:cNvSpPr/>
          <p:nvPr/>
        </p:nvSpPr>
        <p:spPr>
          <a:xfrm>
            <a:off x="731520" y="3429000"/>
            <a:ext cx="3566160" cy="201168"/>
          </a:xfrm>
          <a:prstGeom prst="rect">
            <a:avLst/>
          </a:prstGeom>
          <a:noFill/>
          <a:ln/>
        </p:spPr>
        <p:txBody>
          <a:bodyPr wrap="square" rtlCol="0" anchor="ctr"/>
          <a:lstStyle/>
          <a:p>
            <a:pPr indent="0" marL="0">
              <a:buNone/>
            </a:pPr>
            <a:r>
              <a:rPr lang="en-US" sz="850" b="1" dirty="0">
                <a:solidFill>
                  <a:srgbClr val="64748B"/>
                </a:solidFill>
                <a:latin typeface="Arial" pitchFamily="34" charset="0"/>
                <a:ea typeface="Arial" pitchFamily="34" charset="-122"/>
                <a:cs typeface="Arial" pitchFamily="34" charset="-120"/>
              </a:rPr>
              <a:t>THREAT ACTOR</a:t>
            </a:r>
            <a:endParaRPr lang="en-US" sz="850" dirty="0"/>
          </a:p>
        </p:txBody>
      </p:sp>
      <p:sp>
        <p:nvSpPr>
          <p:cNvPr id="24" name="Text 21"/>
          <p:cNvSpPr/>
          <p:nvPr/>
        </p:nvSpPr>
        <p:spPr>
          <a:xfrm>
            <a:off x="731520" y="3666744"/>
            <a:ext cx="3566160" cy="457200"/>
          </a:xfrm>
          <a:prstGeom prst="rect">
            <a:avLst/>
          </a:prstGeom>
          <a:noFill/>
          <a:ln/>
        </p:spPr>
        <p:txBody>
          <a:bodyPr wrap="square" rtlCol="0" anchor="ctr"/>
          <a:lstStyle/>
          <a:p>
            <a:pPr indent="0" marL="0">
              <a:buNone/>
            </a:pPr>
            <a:r>
              <a:rPr lang="en-US" sz="1200" b="1" dirty="0">
                <a:solidFill>
                  <a:srgbClr val="0B1930"/>
                </a:solidFill>
                <a:latin typeface="Arial" pitchFamily="34" charset="0"/>
                <a:ea typeface="Arial" pitchFamily="34" charset="-122"/>
                <a:cs typeface="Arial" pitchFamily="34" charset="-120"/>
              </a:rPr>
              <a:t>Obsidian Kite</a:t>
            </a:r>
            <a:endParaRPr lang="en-US" sz="1200" dirty="0"/>
          </a:p>
        </p:txBody>
      </p:sp>
      <p:sp>
        <p:nvSpPr>
          <p:cNvPr id="25" name="Shape 22"/>
          <p:cNvSpPr/>
          <p:nvPr/>
        </p:nvSpPr>
        <p:spPr>
          <a:xfrm>
            <a:off x="4663440" y="3337560"/>
            <a:ext cx="3931920" cy="896112"/>
          </a:xfrm>
          <a:prstGeom prst="roundRect">
            <a:avLst>
              <a:gd name="adj" fmla="val 6122"/>
            </a:avLst>
          </a:prstGeom>
          <a:solidFill>
            <a:srgbClr val="FFFFFF"/>
          </a:solidFill>
          <a:ln w="9525">
            <a:solidFill>
              <a:srgbClr val="CBD5E1"/>
            </a:solidFill>
            <a:prstDash val="solid"/>
          </a:ln>
        </p:spPr>
      </p:sp>
      <p:sp>
        <p:nvSpPr>
          <p:cNvPr id="26" name="Text 23"/>
          <p:cNvSpPr/>
          <p:nvPr/>
        </p:nvSpPr>
        <p:spPr>
          <a:xfrm>
            <a:off x="4846320" y="3429000"/>
            <a:ext cx="3566160" cy="201168"/>
          </a:xfrm>
          <a:prstGeom prst="rect">
            <a:avLst/>
          </a:prstGeom>
          <a:noFill/>
          <a:ln/>
        </p:spPr>
        <p:txBody>
          <a:bodyPr wrap="square" rtlCol="0" anchor="ctr"/>
          <a:lstStyle/>
          <a:p>
            <a:pPr indent="0" marL="0">
              <a:buNone/>
            </a:pPr>
            <a:r>
              <a:rPr lang="en-US" sz="850" b="1" dirty="0">
                <a:solidFill>
                  <a:srgbClr val="64748B"/>
                </a:solidFill>
                <a:latin typeface="Arial" pitchFamily="34" charset="0"/>
                <a:ea typeface="Arial" pitchFamily="34" charset="-122"/>
                <a:cs typeface="Arial" pitchFamily="34" charset="-120"/>
              </a:rPr>
              <a:t>MALWARE</a:t>
            </a:r>
            <a:endParaRPr lang="en-US" sz="850" dirty="0"/>
          </a:p>
        </p:txBody>
      </p:sp>
      <p:sp>
        <p:nvSpPr>
          <p:cNvPr id="27" name="Text 24"/>
          <p:cNvSpPr/>
          <p:nvPr/>
        </p:nvSpPr>
        <p:spPr>
          <a:xfrm>
            <a:off x="4846320" y="3666744"/>
            <a:ext cx="3566160" cy="457200"/>
          </a:xfrm>
          <a:prstGeom prst="rect">
            <a:avLst/>
          </a:prstGeom>
          <a:noFill/>
          <a:ln/>
        </p:spPr>
        <p:txBody>
          <a:bodyPr wrap="square" rtlCol="0" anchor="ctr"/>
          <a:lstStyle/>
          <a:p>
            <a:pPr indent="0" marL="0">
              <a:buNone/>
            </a:pPr>
            <a:r>
              <a:rPr lang="en-US" sz="1200" b="1" dirty="0">
                <a:solidFill>
                  <a:srgbClr val="0B1930"/>
                </a:solidFill>
                <a:latin typeface="Arial" pitchFamily="34" charset="0"/>
                <a:ea typeface="Arial" pitchFamily="34" charset="-122"/>
                <a:cs typeface="Arial" pitchFamily="34" charset="-120"/>
              </a:rPr>
              <a:t>NightFalcon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0"/>
          <p:cNvSpPr/>
          <p:nvPr/>
        </p:nvSpPr>
        <p:spPr>
          <a:xfrm>
            <a:off x="548640" y="4572000"/>
            <a:ext cx="8046720" cy="18288"/>
          </a:xfrm>
          <a:prstGeom prst="rect">
            <a:avLst/>
          </a:prstGeom>
          <a:solidFill>
            <a:srgbClr val="CBD5E1"/>
          </a:solidFill>
          <a:ln w="12700">
            <a:solidFill>
              <a:srgbClr val="CBD5E1"/>
            </a:solidFill>
            <a:prstDash val="solid"/>
          </a:ln>
        </p:spPr>
      </p:sp>
      <p:sp>
        <p:nvSpPr>
          <p:cNvPr id="4" name="Text 1"/>
          <p:cNvSpPr/>
          <p:nvPr/>
        </p:nvSpPr>
        <p:spPr>
          <a:xfrm>
            <a:off x="548640" y="4663440"/>
            <a:ext cx="5486400" cy="27432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TRANSFORMAI GROUNDED INTELLIGENCE ENGINE  |  ADVISORY ID: TAI-ADV-2026-88421</a:t>
            </a:r>
            <a:endParaRPr lang="en-US" sz="800" dirty="0"/>
          </a:p>
        </p:txBody>
      </p:sp>
      <p:sp>
        <p:nvSpPr>
          <p:cNvPr id="5" name="Text 2"/>
          <p:cNvSpPr/>
          <p:nvPr/>
        </p:nvSpPr>
        <p:spPr>
          <a:xfrm>
            <a:off x="6035040" y="4663440"/>
            <a:ext cx="2560320" cy="274320"/>
          </a:xfrm>
          <a:prstGeom prst="rect">
            <a:avLst/>
          </a:prstGeom>
          <a:noFill/>
          <a:ln/>
        </p:spPr>
        <p:txBody>
          <a:bodyPr wrap="square" rtlCol="0" anchor="ctr"/>
          <a:lstStyle/>
          <a:p>
            <a:pPr algn="r" indent="0" marL="0">
              <a:buNone/>
            </a:pPr>
            <a:r>
              <a:rPr lang="en-US" sz="800" b="1" dirty="0">
                <a:solidFill>
                  <a:srgbClr val="64748B"/>
                </a:solidFill>
                <a:latin typeface="Arial" pitchFamily="34" charset="0"/>
                <a:ea typeface="Arial" pitchFamily="34" charset="-122"/>
                <a:cs typeface="Arial" pitchFamily="34" charset="-120"/>
              </a:rPr>
              <a:t>TLP:AMBER+STRICT  |  SLIDE 3 OF 11</a:t>
            </a:r>
            <a:endParaRPr lang="en-US" sz="800" dirty="0"/>
          </a:p>
        </p:txBody>
      </p:sp>
      <p:sp>
        <p:nvSpPr>
          <p:cNvPr id="6" name="Text 3"/>
          <p:cNvSpPr/>
          <p:nvPr/>
        </p:nvSpPr>
        <p:spPr>
          <a:xfrm>
            <a:off x="5943600" y="320040"/>
            <a:ext cx="2651760" cy="256032"/>
          </a:xfrm>
          <a:prstGeom prst="rect">
            <a:avLst/>
          </a:prstGeom>
          <a:noFill/>
          <a:ln/>
        </p:spPr>
        <p:txBody>
          <a:bodyPr wrap="square" rtlCol="0" anchor="ctr"/>
          <a:lstStyle/>
          <a:p>
            <a:pPr algn="r" indent="0" marL="0">
              <a:buNone/>
            </a:pPr>
            <a:r>
              <a:rPr lang="en-US" sz="800" i="1" dirty="0">
                <a:solidFill>
                  <a:srgbClr val="64748B"/>
                </a:solidFill>
                <a:latin typeface="Arial" pitchFamily="34" charset="0"/>
                <a:ea typeface="Arial" pitchFamily="34" charset="-122"/>
                <a:cs typeface="Arial" pitchFamily="34" charset="-120"/>
              </a:rPr>
              <a:t>Source: TAI-ADV-2026-88421, Section 3</a:t>
            </a:r>
            <a:endParaRPr lang="en-US" sz="800" dirty="0"/>
          </a:p>
        </p:txBody>
      </p:sp>
      <p:sp>
        <p:nvSpPr>
          <p:cNvPr id="7" name="Text 4"/>
          <p:cNvSpPr/>
          <p:nvPr/>
        </p:nvSpPr>
        <p:spPr>
          <a:xfrm>
            <a:off x="548640" y="320040"/>
            <a:ext cx="4114800" cy="228600"/>
          </a:xfrm>
          <a:prstGeom prst="rect">
            <a:avLst/>
          </a:prstGeom>
          <a:noFill/>
          <a:ln/>
        </p:spPr>
        <p:txBody>
          <a:bodyPr wrap="square" rtlCol="0" anchor="ctr"/>
          <a:lstStyle/>
          <a:p>
            <a:pPr indent="0" marL="0">
              <a:buNone/>
            </a:pPr>
            <a:r>
              <a:rPr lang="en-US" sz="800" b="1" dirty="0">
                <a:solidFill>
                  <a:srgbClr val="1E3A8A"/>
                </a:solidFill>
                <a:latin typeface="Arial" pitchFamily="34" charset="0"/>
                <a:ea typeface="Arial" pitchFamily="34" charset="-122"/>
                <a:cs typeface="Arial" pitchFamily="34" charset="-120"/>
              </a:rPr>
              <a:t>TECHNICAL FINDING</a:t>
            </a:r>
            <a:endParaRPr lang="en-US" sz="800" dirty="0"/>
          </a:p>
        </p:txBody>
      </p:sp>
      <p:sp>
        <p:nvSpPr>
          <p:cNvPr id="8" name="Text 5"/>
          <p:cNvSpPr/>
          <p:nvPr/>
        </p:nvSpPr>
        <p:spPr>
          <a:xfrm>
            <a:off x="548640" y="548640"/>
            <a:ext cx="7772400" cy="411480"/>
          </a:xfrm>
          <a:prstGeom prst="rect">
            <a:avLst/>
          </a:prstGeom>
          <a:noFill/>
          <a:ln/>
        </p:spPr>
        <p:txBody>
          <a:bodyPr wrap="square" rtlCol="0" anchor="ctr"/>
          <a:lstStyle/>
          <a:p>
            <a:pPr indent="0" marL="0">
              <a:buNone/>
            </a:pPr>
            <a:r>
              <a:rPr lang="en-US" sz="2000" b="1" dirty="0">
                <a:solidFill>
                  <a:srgbClr val="0B1930"/>
                </a:solidFill>
                <a:latin typeface="Arial" pitchFamily="34" charset="0"/>
                <a:ea typeface="Arial" pitchFamily="34" charset="-122"/>
                <a:cs typeface="Arial" pitchFamily="34" charset="-120"/>
              </a:rPr>
              <a:t>Vulnerability</a:t>
            </a:r>
            <a:endParaRPr lang="en-US" sz="2000" dirty="0"/>
          </a:p>
        </p:txBody>
      </p:sp>
      <p:sp>
        <p:nvSpPr>
          <p:cNvPr id="9" name="Text 6"/>
          <p:cNvSpPr/>
          <p:nvPr/>
        </p:nvSpPr>
        <p:spPr>
          <a:xfrm>
            <a:off x="548640" y="960120"/>
            <a:ext cx="77724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CVE-2026-88421 Technical Analysis &amp; Exploitation Mechanics</a:t>
            </a:r>
            <a:endParaRPr lang="en-US" sz="1000" dirty="0"/>
          </a:p>
        </p:txBody>
      </p:sp>
      <p:sp>
        <p:nvSpPr>
          <p:cNvPr id="10" name="Shape 7"/>
          <p:cNvSpPr/>
          <p:nvPr/>
        </p:nvSpPr>
        <p:spPr>
          <a:xfrm>
            <a:off x="548640" y="1325880"/>
            <a:ext cx="8046720" cy="749808"/>
          </a:xfrm>
          <a:prstGeom prst="roundRect">
            <a:avLst>
              <a:gd name="adj" fmla="val 6098"/>
            </a:avLst>
          </a:prstGeom>
          <a:solidFill>
            <a:srgbClr val="FEE2E2"/>
          </a:solidFill>
          <a:ln w="12700">
            <a:solidFill>
              <a:srgbClr val="991B1B"/>
            </a:solidFill>
            <a:prstDash val="solid"/>
          </a:ln>
        </p:spPr>
      </p:sp>
      <p:sp>
        <p:nvSpPr>
          <p:cNvPr id="11" name="Text 8"/>
          <p:cNvSpPr/>
          <p:nvPr/>
        </p:nvSpPr>
        <p:spPr>
          <a:xfrm>
            <a:off x="731520" y="1389888"/>
            <a:ext cx="7680960" cy="292608"/>
          </a:xfrm>
          <a:prstGeom prst="rect">
            <a:avLst/>
          </a:prstGeom>
          <a:noFill/>
          <a:ln/>
        </p:spPr>
        <p:txBody>
          <a:bodyPr wrap="square" rtlCol="0" anchor="ctr"/>
          <a:lstStyle/>
          <a:p>
            <a:pPr indent="0" marL="0">
              <a:buNone/>
            </a:pPr>
            <a:r>
              <a:rPr lang="en-US" sz="1300" b="1" dirty="0">
                <a:solidFill>
                  <a:srgbClr val="991B1B"/>
                </a:solidFill>
                <a:latin typeface="Arial" pitchFamily="34" charset="0"/>
                <a:ea typeface="Arial" pitchFamily="34" charset="-122"/>
                <a:cs typeface="Arial" pitchFamily="34" charset="-120"/>
              </a:rPr>
              <a:t>CVE-2026-88421  |  Remote Code Execution</a:t>
            </a:r>
            <a:endParaRPr lang="en-US" sz="1300" dirty="0"/>
          </a:p>
        </p:txBody>
      </p:sp>
      <p:sp>
        <p:nvSpPr>
          <p:cNvPr id="12" name="Text 9"/>
          <p:cNvSpPr/>
          <p:nvPr/>
        </p:nvSpPr>
        <p:spPr>
          <a:xfrm>
            <a:off x="731520" y="1719072"/>
            <a:ext cx="7680960" cy="27432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Component: OrionGate Web Gateway  |  Versions: 7.2.x, 7.3.x (7.4.x potentially affected)</a:t>
            </a:r>
            <a:endParaRPr lang="en-US" sz="950" dirty="0"/>
          </a:p>
        </p:txBody>
      </p:sp>
      <p:sp>
        <p:nvSpPr>
          <p:cNvPr id="13" name="Shape 10"/>
          <p:cNvSpPr/>
          <p:nvPr/>
        </p:nvSpPr>
        <p:spPr>
          <a:xfrm>
            <a:off x="548640" y="2240280"/>
            <a:ext cx="3931920" cy="777240"/>
          </a:xfrm>
          <a:prstGeom prst="roundRect">
            <a:avLst>
              <a:gd name="adj" fmla="val 5882"/>
            </a:avLst>
          </a:prstGeom>
          <a:solidFill>
            <a:srgbClr val="FFFFFF"/>
          </a:solidFill>
          <a:ln w="9525">
            <a:solidFill>
              <a:srgbClr val="CBD5E1"/>
            </a:solidFill>
            <a:prstDash val="solid"/>
          </a:ln>
        </p:spPr>
      </p:sp>
      <p:sp>
        <p:nvSpPr>
          <p:cNvPr id="14" name="Text 11"/>
          <p:cNvSpPr/>
          <p:nvPr/>
        </p:nvSpPr>
        <p:spPr>
          <a:xfrm>
            <a:off x="685800" y="2313432"/>
            <a:ext cx="3657600" cy="201168"/>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AFFECTED COMPONENT</a:t>
            </a:r>
            <a:endParaRPr lang="en-US" sz="800" dirty="0"/>
          </a:p>
        </p:txBody>
      </p:sp>
      <p:sp>
        <p:nvSpPr>
          <p:cNvPr id="15" name="Text 12"/>
          <p:cNvSpPr/>
          <p:nvPr/>
        </p:nvSpPr>
        <p:spPr>
          <a:xfrm>
            <a:off x="685800" y="2551176"/>
            <a:ext cx="3657600" cy="384048"/>
          </a:xfrm>
          <a:prstGeom prst="rect">
            <a:avLst/>
          </a:prstGeom>
          <a:noFill/>
          <a:ln/>
        </p:spPr>
        <p:txBody>
          <a:bodyPr wrap="square" rtlCol="0" anchor="ctr"/>
          <a:lstStyle/>
          <a:p>
            <a:pPr indent="0" marL="0">
              <a:buNone/>
            </a:pPr>
            <a:r>
              <a:rPr lang="en-US" sz="1000" b="1" dirty="0">
                <a:solidFill>
                  <a:srgbClr val="0B1930"/>
                </a:solidFill>
                <a:latin typeface="Arial" pitchFamily="34" charset="0"/>
                <a:ea typeface="Arial" pitchFamily="34" charset="-122"/>
                <a:cs typeface="Arial" pitchFamily="34" charset="-120"/>
              </a:rPr>
              <a:t>OrionGate Web Gateway</a:t>
            </a:r>
            <a:endParaRPr lang="en-US" sz="1000" dirty="0"/>
          </a:p>
        </p:txBody>
      </p:sp>
      <p:sp>
        <p:nvSpPr>
          <p:cNvPr id="16" name="Shape 13"/>
          <p:cNvSpPr/>
          <p:nvPr/>
        </p:nvSpPr>
        <p:spPr>
          <a:xfrm>
            <a:off x="4663440" y="2240280"/>
            <a:ext cx="3931920" cy="777240"/>
          </a:xfrm>
          <a:prstGeom prst="roundRect">
            <a:avLst>
              <a:gd name="adj" fmla="val 5882"/>
            </a:avLst>
          </a:prstGeom>
          <a:solidFill>
            <a:srgbClr val="FFFFFF"/>
          </a:solidFill>
          <a:ln w="9525">
            <a:solidFill>
              <a:srgbClr val="CBD5E1"/>
            </a:solidFill>
            <a:prstDash val="solid"/>
          </a:ln>
        </p:spPr>
      </p:sp>
      <p:sp>
        <p:nvSpPr>
          <p:cNvPr id="17" name="Text 14"/>
          <p:cNvSpPr/>
          <p:nvPr/>
        </p:nvSpPr>
        <p:spPr>
          <a:xfrm>
            <a:off x="4800600" y="2313432"/>
            <a:ext cx="3657600" cy="201168"/>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AFFECTED VERSIONS</a:t>
            </a:r>
            <a:endParaRPr lang="en-US" sz="800" dirty="0"/>
          </a:p>
        </p:txBody>
      </p:sp>
      <p:sp>
        <p:nvSpPr>
          <p:cNvPr id="18" name="Text 15"/>
          <p:cNvSpPr/>
          <p:nvPr/>
        </p:nvSpPr>
        <p:spPr>
          <a:xfrm>
            <a:off x="4800600" y="2551176"/>
            <a:ext cx="3657600" cy="384048"/>
          </a:xfrm>
          <a:prstGeom prst="rect">
            <a:avLst/>
          </a:prstGeom>
          <a:noFill/>
          <a:ln/>
        </p:spPr>
        <p:txBody>
          <a:bodyPr wrap="square" rtlCol="0" anchor="ctr"/>
          <a:lstStyle/>
          <a:p>
            <a:pPr indent="0" marL="0">
              <a:buNone/>
            </a:pPr>
            <a:r>
              <a:rPr lang="en-US" sz="1000" b="1" dirty="0">
                <a:solidFill>
                  <a:srgbClr val="0B1930"/>
                </a:solidFill>
                <a:latin typeface="Arial" pitchFamily="34" charset="0"/>
                <a:ea typeface="Arial" pitchFamily="34" charset="-122"/>
                <a:cs typeface="Arial" pitchFamily="34" charset="-120"/>
              </a:rPr>
              <a:t>7.2.x, 7.3.x (7.4.x potentially affected)</a:t>
            </a:r>
            <a:endParaRPr lang="en-US" sz="1000" dirty="0"/>
          </a:p>
        </p:txBody>
      </p:sp>
      <p:sp>
        <p:nvSpPr>
          <p:cNvPr id="19" name="Shape 16"/>
          <p:cNvSpPr/>
          <p:nvPr/>
        </p:nvSpPr>
        <p:spPr>
          <a:xfrm>
            <a:off x="548640" y="3108960"/>
            <a:ext cx="3931920" cy="777240"/>
          </a:xfrm>
          <a:prstGeom prst="roundRect">
            <a:avLst>
              <a:gd name="adj" fmla="val 5882"/>
            </a:avLst>
          </a:prstGeom>
          <a:solidFill>
            <a:srgbClr val="FFFFFF"/>
          </a:solidFill>
          <a:ln w="9525">
            <a:solidFill>
              <a:srgbClr val="CBD5E1"/>
            </a:solidFill>
            <a:prstDash val="solid"/>
          </a:ln>
        </p:spPr>
      </p:sp>
      <p:sp>
        <p:nvSpPr>
          <p:cNvPr id="20" name="Text 17"/>
          <p:cNvSpPr/>
          <p:nvPr/>
        </p:nvSpPr>
        <p:spPr>
          <a:xfrm>
            <a:off x="685800" y="3182112"/>
            <a:ext cx="3657600" cy="201168"/>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ATTACK COMPLEXITY</a:t>
            </a:r>
            <a:endParaRPr lang="en-US" sz="800" dirty="0"/>
          </a:p>
        </p:txBody>
      </p:sp>
      <p:sp>
        <p:nvSpPr>
          <p:cNvPr id="21" name="Text 18"/>
          <p:cNvSpPr/>
          <p:nvPr/>
        </p:nvSpPr>
        <p:spPr>
          <a:xfrm>
            <a:off x="685800" y="3419856"/>
            <a:ext cx="3657600" cy="384048"/>
          </a:xfrm>
          <a:prstGeom prst="rect">
            <a:avLst/>
          </a:prstGeom>
          <a:noFill/>
          <a:ln/>
        </p:spPr>
        <p:txBody>
          <a:bodyPr wrap="square" rtlCol="0" anchor="ctr"/>
          <a:lstStyle/>
          <a:p>
            <a:pPr indent="0" marL="0">
              <a:buNone/>
            </a:pPr>
            <a:r>
              <a:rPr lang="en-US" sz="1000" b="1" dirty="0">
                <a:solidFill>
                  <a:srgbClr val="1E3A8A"/>
                </a:solidFill>
                <a:latin typeface="Arial" pitchFamily="34" charset="0"/>
                <a:ea typeface="Arial" pitchFamily="34" charset="-122"/>
                <a:cs typeface="Arial" pitchFamily="34" charset="-120"/>
              </a:rPr>
              <a:t>Low</a:t>
            </a:r>
            <a:endParaRPr lang="en-US" sz="1000" dirty="0"/>
          </a:p>
        </p:txBody>
      </p:sp>
      <p:sp>
        <p:nvSpPr>
          <p:cNvPr id="22" name="Shape 19"/>
          <p:cNvSpPr/>
          <p:nvPr/>
        </p:nvSpPr>
        <p:spPr>
          <a:xfrm>
            <a:off x="4663440" y="3108960"/>
            <a:ext cx="3931920" cy="777240"/>
          </a:xfrm>
          <a:prstGeom prst="roundRect">
            <a:avLst>
              <a:gd name="adj" fmla="val 5882"/>
            </a:avLst>
          </a:prstGeom>
          <a:solidFill>
            <a:srgbClr val="FFFFFF"/>
          </a:solidFill>
          <a:ln w="9525">
            <a:solidFill>
              <a:srgbClr val="CBD5E1"/>
            </a:solidFill>
            <a:prstDash val="solid"/>
          </a:ln>
        </p:spPr>
      </p:sp>
      <p:sp>
        <p:nvSpPr>
          <p:cNvPr id="23" name="Text 20"/>
          <p:cNvSpPr/>
          <p:nvPr/>
        </p:nvSpPr>
        <p:spPr>
          <a:xfrm>
            <a:off x="4800600" y="3182112"/>
            <a:ext cx="3657600" cy="201168"/>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PRIVILEGES / USER INTERACTION</a:t>
            </a:r>
            <a:endParaRPr lang="en-US" sz="800" dirty="0"/>
          </a:p>
        </p:txBody>
      </p:sp>
      <p:sp>
        <p:nvSpPr>
          <p:cNvPr id="24" name="Text 21"/>
          <p:cNvSpPr/>
          <p:nvPr/>
        </p:nvSpPr>
        <p:spPr>
          <a:xfrm>
            <a:off x="4800600" y="3419856"/>
            <a:ext cx="3657600" cy="384048"/>
          </a:xfrm>
          <a:prstGeom prst="rect">
            <a:avLst/>
          </a:prstGeom>
          <a:noFill/>
          <a:ln/>
        </p:spPr>
        <p:txBody>
          <a:bodyPr wrap="square" rtlCol="0" anchor="ctr"/>
          <a:lstStyle/>
          <a:p>
            <a:pPr indent="0" marL="0">
              <a:buNone/>
            </a:pPr>
            <a:r>
              <a:rPr lang="en-US" sz="1000" b="1" dirty="0">
                <a:solidFill>
                  <a:srgbClr val="1E3A8A"/>
                </a:solidFill>
                <a:latin typeface="Arial" pitchFamily="34" charset="0"/>
                <a:ea typeface="Arial" pitchFamily="34" charset="-122"/>
                <a:cs typeface="Arial" pitchFamily="34" charset="-120"/>
              </a:rPr>
              <a:t>Privileges: None  |  User Interaction: None</a:t>
            </a:r>
            <a:endParaRPr lang="en-US" sz="1000" dirty="0"/>
          </a:p>
        </p:txBody>
      </p:sp>
      <p:sp>
        <p:nvSpPr>
          <p:cNvPr id="25" name="Shape 22"/>
          <p:cNvSpPr/>
          <p:nvPr/>
        </p:nvSpPr>
        <p:spPr>
          <a:xfrm>
            <a:off x="548640" y="4069080"/>
            <a:ext cx="8046720" cy="438912"/>
          </a:xfrm>
          <a:prstGeom prst="roundRect">
            <a:avLst>
              <a:gd name="adj" fmla="val 10417"/>
            </a:avLst>
          </a:prstGeom>
          <a:solidFill>
            <a:srgbClr val="FFFFFF"/>
          </a:solidFill>
          <a:ln w="9525">
            <a:solidFill>
              <a:srgbClr val="1E3A8A"/>
            </a:solidFill>
            <a:prstDash val="solid"/>
          </a:ln>
        </p:spPr>
      </p:sp>
      <p:sp>
        <p:nvSpPr>
          <p:cNvPr id="26" name="Text 23"/>
          <p:cNvSpPr/>
          <p:nvPr/>
        </p:nvSpPr>
        <p:spPr>
          <a:xfrm>
            <a:off x="731520" y="4114800"/>
            <a:ext cx="7680960" cy="347472"/>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Root Cause Summary: Unsafe deserialization of multipart POST payloads submitted to the web gateway endpoint allows unauthenticated attackers to execute arbitrary system commands with elevated privileges.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hape 0"/>
          <p:cNvSpPr/>
          <p:nvPr/>
        </p:nvSpPr>
        <p:spPr>
          <a:xfrm>
            <a:off x="548640" y="4572000"/>
            <a:ext cx="8046720" cy="18288"/>
          </a:xfrm>
          <a:prstGeom prst="rect">
            <a:avLst/>
          </a:prstGeom>
          <a:solidFill>
            <a:srgbClr val="CBD5E1"/>
          </a:solidFill>
          <a:ln w="12700">
            <a:solidFill>
              <a:srgbClr val="CBD5E1"/>
            </a:solidFill>
            <a:prstDash val="solid"/>
          </a:ln>
        </p:spPr>
      </p:sp>
      <p:sp>
        <p:nvSpPr>
          <p:cNvPr id="4" name="Text 1"/>
          <p:cNvSpPr/>
          <p:nvPr/>
        </p:nvSpPr>
        <p:spPr>
          <a:xfrm>
            <a:off x="548640" y="4663440"/>
            <a:ext cx="5486400" cy="27432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TRANSFORMAI GROUNDED INTELLIGENCE ENGINE  |  ADVISORY ID: TAI-ADV-2026-88421</a:t>
            </a:r>
            <a:endParaRPr lang="en-US" sz="800" dirty="0"/>
          </a:p>
        </p:txBody>
      </p:sp>
      <p:sp>
        <p:nvSpPr>
          <p:cNvPr id="5" name="Text 2"/>
          <p:cNvSpPr/>
          <p:nvPr/>
        </p:nvSpPr>
        <p:spPr>
          <a:xfrm>
            <a:off x="6035040" y="4663440"/>
            <a:ext cx="2560320" cy="274320"/>
          </a:xfrm>
          <a:prstGeom prst="rect">
            <a:avLst/>
          </a:prstGeom>
          <a:noFill/>
          <a:ln/>
        </p:spPr>
        <p:txBody>
          <a:bodyPr wrap="square" rtlCol="0" anchor="ctr"/>
          <a:lstStyle/>
          <a:p>
            <a:pPr algn="r" indent="0" marL="0">
              <a:buNone/>
            </a:pPr>
            <a:r>
              <a:rPr lang="en-US" sz="800" b="1" dirty="0">
                <a:solidFill>
                  <a:srgbClr val="64748B"/>
                </a:solidFill>
                <a:latin typeface="Arial" pitchFamily="34" charset="0"/>
                <a:ea typeface="Arial" pitchFamily="34" charset="-122"/>
                <a:cs typeface="Arial" pitchFamily="34" charset="-120"/>
              </a:rPr>
              <a:t>TLP:AMBER+STRICT  |  SLIDE 4 OF 11</a:t>
            </a:r>
            <a:endParaRPr lang="en-US" sz="800" dirty="0"/>
          </a:p>
        </p:txBody>
      </p:sp>
      <p:sp>
        <p:nvSpPr>
          <p:cNvPr id="6" name="Text 3"/>
          <p:cNvSpPr/>
          <p:nvPr/>
        </p:nvSpPr>
        <p:spPr>
          <a:xfrm>
            <a:off x="5943600" y="320040"/>
            <a:ext cx="2651760" cy="256032"/>
          </a:xfrm>
          <a:prstGeom prst="rect">
            <a:avLst/>
          </a:prstGeom>
          <a:noFill/>
          <a:ln/>
        </p:spPr>
        <p:txBody>
          <a:bodyPr wrap="square" rtlCol="0" anchor="ctr"/>
          <a:lstStyle/>
          <a:p>
            <a:pPr algn="r" indent="0" marL="0">
              <a:buNone/>
            </a:pPr>
            <a:r>
              <a:rPr lang="en-US" sz="800" i="1" dirty="0">
                <a:solidFill>
                  <a:srgbClr val="64748B"/>
                </a:solidFill>
                <a:latin typeface="Arial" pitchFamily="34" charset="0"/>
                <a:ea typeface="Arial" pitchFamily="34" charset="-122"/>
                <a:cs typeface="Arial" pitchFamily="34" charset="-120"/>
              </a:rPr>
              <a:t>Source: TAI-ADV-2026-88421, Section 4</a:t>
            </a:r>
            <a:endParaRPr lang="en-US" sz="800" dirty="0"/>
          </a:p>
        </p:txBody>
      </p:sp>
      <p:sp>
        <p:nvSpPr>
          <p:cNvPr id="7" name="Text 4"/>
          <p:cNvSpPr/>
          <p:nvPr/>
        </p:nvSpPr>
        <p:spPr>
          <a:xfrm>
            <a:off x="548640" y="320040"/>
            <a:ext cx="4114800" cy="228600"/>
          </a:xfrm>
          <a:prstGeom prst="rect">
            <a:avLst/>
          </a:prstGeom>
          <a:noFill/>
          <a:ln/>
        </p:spPr>
        <p:txBody>
          <a:bodyPr wrap="square" rtlCol="0" anchor="ctr"/>
          <a:lstStyle/>
          <a:p>
            <a:pPr indent="0" marL="0">
              <a:buNone/>
            </a:pPr>
            <a:r>
              <a:rPr lang="en-US" sz="800" b="1" dirty="0">
                <a:solidFill>
                  <a:srgbClr val="1E3A8A"/>
                </a:solidFill>
                <a:latin typeface="Arial" pitchFamily="34" charset="0"/>
                <a:ea typeface="Arial" pitchFamily="34" charset="-122"/>
                <a:cs typeface="Arial" pitchFamily="34" charset="-120"/>
              </a:rPr>
              <a:t>INFRASTRUCTURE SCOPE</a:t>
            </a:r>
            <a:endParaRPr lang="en-US" sz="800" dirty="0"/>
          </a:p>
        </p:txBody>
      </p:sp>
      <p:sp>
        <p:nvSpPr>
          <p:cNvPr id="8" name="Text 5"/>
          <p:cNvSpPr/>
          <p:nvPr/>
        </p:nvSpPr>
        <p:spPr>
          <a:xfrm>
            <a:off x="548640" y="548640"/>
            <a:ext cx="7772400" cy="411480"/>
          </a:xfrm>
          <a:prstGeom prst="rect">
            <a:avLst/>
          </a:prstGeom>
          <a:noFill/>
          <a:ln/>
        </p:spPr>
        <p:txBody>
          <a:bodyPr wrap="square" rtlCol="0" anchor="ctr"/>
          <a:lstStyle/>
          <a:p>
            <a:pPr indent="0" marL="0">
              <a:buNone/>
            </a:pPr>
            <a:r>
              <a:rPr lang="en-US" sz="2000" b="1" dirty="0">
                <a:solidFill>
                  <a:srgbClr val="0B1930"/>
                </a:solidFill>
                <a:latin typeface="Arial" pitchFamily="34" charset="0"/>
                <a:ea typeface="Arial" pitchFamily="34" charset="-122"/>
                <a:cs typeface="Arial" pitchFamily="34" charset="-120"/>
              </a:rPr>
              <a:t>Affected Systems &amp; Scope</a:t>
            </a:r>
            <a:endParaRPr lang="en-US" sz="2000" dirty="0"/>
          </a:p>
        </p:txBody>
      </p:sp>
      <p:sp>
        <p:nvSpPr>
          <p:cNvPr id="9" name="Text 6"/>
          <p:cNvSpPr/>
          <p:nvPr/>
        </p:nvSpPr>
        <p:spPr>
          <a:xfrm>
            <a:off x="548640" y="960120"/>
            <a:ext cx="77724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Impacted Products, Software Versions, and Target Industry Sectors</a:t>
            </a:r>
            <a:endParaRPr lang="en-US" sz="1000" dirty="0"/>
          </a:p>
        </p:txBody>
      </p:sp>
      <p:sp>
        <p:nvSpPr>
          <p:cNvPr id="10" name="Shape 7"/>
          <p:cNvSpPr/>
          <p:nvPr/>
        </p:nvSpPr>
        <p:spPr>
          <a:xfrm>
            <a:off x="548640" y="1325880"/>
            <a:ext cx="3931920" cy="3017520"/>
          </a:xfrm>
          <a:prstGeom prst="roundRect">
            <a:avLst>
              <a:gd name="adj" fmla="val 1818"/>
            </a:avLst>
          </a:prstGeom>
          <a:solidFill>
            <a:srgbClr val="FFFFFF"/>
          </a:solidFill>
          <a:ln w="9525">
            <a:solidFill>
              <a:srgbClr val="CBD5E1"/>
            </a:solidFill>
            <a:prstDash val="solid"/>
          </a:ln>
        </p:spPr>
      </p:sp>
      <p:sp>
        <p:nvSpPr>
          <p:cNvPr id="11" name="Text 8"/>
          <p:cNvSpPr/>
          <p:nvPr/>
        </p:nvSpPr>
        <p:spPr>
          <a:xfrm>
            <a:off x="731520" y="1463040"/>
            <a:ext cx="3566160" cy="228600"/>
          </a:xfrm>
          <a:prstGeom prst="rect">
            <a:avLst/>
          </a:prstGeom>
          <a:noFill/>
          <a:ln/>
        </p:spPr>
        <p:txBody>
          <a:bodyPr wrap="square" rtlCol="0" anchor="ctr"/>
          <a:lstStyle/>
          <a:p>
            <a:pPr indent="0" marL="0">
              <a:buNone/>
            </a:pPr>
            <a:r>
              <a:rPr lang="en-US" sz="850" b="1" dirty="0">
                <a:solidFill>
                  <a:srgbClr val="1E3A8A"/>
                </a:solidFill>
                <a:latin typeface="Arial" pitchFamily="34" charset="0"/>
                <a:ea typeface="Arial" pitchFamily="34" charset="-122"/>
                <a:cs typeface="Arial" pitchFamily="34" charset="-120"/>
              </a:rPr>
              <a:t>AFFECTED PRODUCTS &amp; SOFTWARE VERSIONS</a:t>
            </a:r>
            <a:endParaRPr lang="en-US" sz="850" dirty="0"/>
          </a:p>
        </p:txBody>
      </p:sp>
      <p:sp>
        <p:nvSpPr>
          <p:cNvPr id="12" name="Text 9"/>
          <p:cNvSpPr/>
          <p:nvPr/>
        </p:nvSpPr>
        <p:spPr>
          <a:xfrm>
            <a:off x="731520" y="1783080"/>
            <a:ext cx="3566160" cy="365760"/>
          </a:xfrm>
          <a:prstGeom prst="rect">
            <a:avLst/>
          </a:prstGeom>
          <a:noFill/>
          <a:ln/>
        </p:spPr>
        <p:txBody>
          <a:bodyPr wrap="square" rtlCol="0" anchor="ctr"/>
          <a:lstStyle/>
          <a:p>
            <a:pPr indent="0" marL="0">
              <a:buNone/>
            </a:pPr>
            <a:r>
              <a:rPr lang="en-US" sz="1400" b="1" dirty="0">
                <a:solidFill>
                  <a:srgbClr val="0B1930"/>
                </a:solidFill>
                <a:latin typeface="Arial" pitchFamily="34" charset="0"/>
                <a:ea typeface="Arial" pitchFamily="34" charset="-122"/>
                <a:cs typeface="Arial" pitchFamily="34" charset="-120"/>
              </a:rPr>
              <a:t>OrionGate Secure Access Server</a:t>
            </a:r>
            <a:endParaRPr lang="en-US" sz="1400" dirty="0"/>
          </a:p>
        </p:txBody>
      </p:sp>
      <p:sp>
        <p:nvSpPr>
          <p:cNvPr id="13" name="Text 10"/>
          <p:cNvSpPr/>
          <p:nvPr/>
        </p:nvSpPr>
        <p:spPr>
          <a:xfrm>
            <a:off x="731520" y="2240280"/>
            <a:ext cx="3566160" cy="228600"/>
          </a:xfrm>
          <a:prstGeom prst="rect">
            <a:avLst/>
          </a:prstGeom>
          <a:noFill/>
          <a:ln/>
        </p:spPr>
        <p:txBody>
          <a:bodyPr wrap="square" rtlCol="0" anchor="ctr"/>
          <a:lstStyle/>
          <a:p>
            <a:pPr indent="0" marL="0">
              <a:buNone/>
            </a:pPr>
            <a:r>
              <a:rPr lang="en-US" sz="900" b="1" dirty="0">
                <a:solidFill>
                  <a:srgbClr val="64748B"/>
                </a:solidFill>
                <a:latin typeface="Arial" pitchFamily="34" charset="0"/>
                <a:ea typeface="Arial" pitchFamily="34" charset="-122"/>
                <a:cs typeface="Arial" pitchFamily="34" charset="-120"/>
              </a:rPr>
              <a:t>Impacted Software Versions:</a:t>
            </a:r>
            <a:endParaRPr lang="en-US" sz="900" dirty="0"/>
          </a:p>
        </p:txBody>
      </p:sp>
      <p:sp>
        <p:nvSpPr>
          <p:cNvPr id="14" name="Text 11"/>
          <p:cNvSpPr/>
          <p:nvPr/>
        </p:nvSpPr>
        <p:spPr>
          <a:xfrm>
            <a:off x="731520" y="2514600"/>
            <a:ext cx="3566160" cy="27432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 Version 7.2.x</a:t>
            </a:r>
            <a:endParaRPr lang="en-US" sz="950" dirty="0"/>
          </a:p>
        </p:txBody>
      </p:sp>
      <p:sp>
        <p:nvSpPr>
          <p:cNvPr id="15" name="Text 12"/>
          <p:cNvSpPr/>
          <p:nvPr/>
        </p:nvSpPr>
        <p:spPr>
          <a:xfrm>
            <a:off x="731520" y="2834640"/>
            <a:ext cx="3566160" cy="27432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 Version 7.3.x</a:t>
            </a:r>
            <a:endParaRPr lang="en-US" sz="950" dirty="0"/>
          </a:p>
        </p:txBody>
      </p:sp>
      <p:sp>
        <p:nvSpPr>
          <p:cNvPr id="16" name="Text 13"/>
          <p:cNvSpPr/>
          <p:nvPr/>
        </p:nvSpPr>
        <p:spPr>
          <a:xfrm>
            <a:off x="731520" y="3154680"/>
            <a:ext cx="3566160" cy="274320"/>
          </a:xfrm>
          <a:prstGeom prst="rect">
            <a:avLst/>
          </a:prstGeom>
          <a:noFill/>
          <a:ln/>
        </p:spPr>
        <p:txBody>
          <a:bodyPr wrap="square" rtlCol="0" anchor="ctr"/>
          <a:lstStyle/>
          <a:p>
            <a:pPr indent="0" marL="0">
              <a:buNone/>
            </a:pPr>
            <a:r>
              <a:rPr lang="en-US" sz="950" dirty="0">
                <a:solidFill>
                  <a:srgbClr val="1E293B"/>
                </a:solidFill>
                <a:latin typeface="Arial" pitchFamily="34" charset="0"/>
                <a:ea typeface="Arial" pitchFamily="34" charset="-122"/>
                <a:cs typeface="Arial" pitchFamily="34" charset="-120"/>
              </a:rPr>
              <a:t>• Version 7.4.x (potentially affected)</a:t>
            </a:r>
            <a:endParaRPr lang="en-US" sz="950" dirty="0"/>
          </a:p>
        </p:txBody>
      </p:sp>
      <p:sp>
        <p:nvSpPr>
          <p:cNvPr id="17" name="Text 14"/>
          <p:cNvSpPr/>
          <p:nvPr/>
        </p:nvSpPr>
        <p:spPr>
          <a:xfrm>
            <a:off x="731520" y="3794760"/>
            <a:ext cx="3566160" cy="411480"/>
          </a:xfrm>
          <a:prstGeom prst="rect">
            <a:avLst/>
          </a:prstGeom>
          <a:noFill/>
          <a:ln/>
        </p:spPr>
        <p:txBody>
          <a:bodyPr wrap="square" rtlCol="0" anchor="ctr"/>
          <a:lstStyle/>
          <a:p>
            <a:pPr indent="0" marL="0">
              <a:buNone/>
            </a:pPr>
            <a:r>
              <a:rPr lang="en-US" sz="800" i="1" dirty="0">
                <a:solidFill>
                  <a:srgbClr val="64748B"/>
                </a:solidFill>
                <a:latin typeface="Arial" pitchFamily="34" charset="0"/>
                <a:ea typeface="Arial" pitchFamily="34" charset="-122"/>
                <a:cs typeface="Arial" pitchFamily="34" charset="-120"/>
              </a:rPr>
              <a:t>Scope Note: Boundary appliances exposed to the public internet.</a:t>
            </a:r>
            <a:endParaRPr lang="en-US" sz="800" dirty="0"/>
          </a:p>
        </p:txBody>
      </p:sp>
      <p:sp>
        <p:nvSpPr>
          <p:cNvPr id="18" name="Shape 15"/>
          <p:cNvSpPr/>
          <p:nvPr/>
        </p:nvSpPr>
        <p:spPr>
          <a:xfrm>
            <a:off x="4663440" y="1325880"/>
            <a:ext cx="3931920" cy="3017520"/>
          </a:xfrm>
          <a:prstGeom prst="roundRect">
            <a:avLst>
              <a:gd name="adj" fmla="val 1818"/>
            </a:avLst>
          </a:prstGeom>
          <a:solidFill>
            <a:srgbClr val="FFFFFF"/>
          </a:solidFill>
          <a:ln w="9525">
            <a:solidFill>
              <a:srgbClr val="CBD5E1"/>
            </a:solidFill>
            <a:prstDash val="solid"/>
          </a:ln>
        </p:spPr>
      </p:sp>
      <p:sp>
        <p:nvSpPr>
          <p:cNvPr id="19" name="Text 16"/>
          <p:cNvSpPr/>
          <p:nvPr/>
        </p:nvSpPr>
        <p:spPr>
          <a:xfrm>
            <a:off x="4846320" y="1463040"/>
            <a:ext cx="3566160" cy="228600"/>
          </a:xfrm>
          <a:prstGeom prst="rect">
            <a:avLst/>
          </a:prstGeom>
          <a:noFill/>
          <a:ln/>
        </p:spPr>
        <p:txBody>
          <a:bodyPr wrap="square" rtlCol="0" anchor="ctr"/>
          <a:lstStyle/>
          <a:p>
            <a:pPr indent="0" marL="0">
              <a:buNone/>
            </a:pPr>
            <a:r>
              <a:rPr lang="en-US" sz="850" b="1" dirty="0">
                <a:solidFill>
                  <a:srgbClr val="1E3A8A"/>
                </a:solidFill>
                <a:latin typeface="Arial" pitchFamily="34" charset="0"/>
                <a:ea typeface="Arial" pitchFamily="34" charset="-122"/>
                <a:cs typeface="Arial" pitchFamily="34" charset="-120"/>
              </a:rPr>
              <a:t>TARGET INDUSTRY SECTORS</a:t>
            </a:r>
            <a:endParaRPr lang="en-US" sz="850" dirty="0"/>
          </a:p>
        </p:txBody>
      </p:sp>
      <p:sp>
        <p:nvSpPr>
          <p:cNvPr id="20" name="Shape 17"/>
          <p:cNvSpPr/>
          <p:nvPr/>
        </p:nvSpPr>
        <p:spPr>
          <a:xfrm>
            <a:off x="4846320" y="1828800"/>
            <a:ext cx="1691640" cy="594360"/>
          </a:xfrm>
          <a:prstGeom prst="roundRect">
            <a:avLst>
              <a:gd name="adj" fmla="val 6154"/>
            </a:avLst>
          </a:prstGeom>
          <a:solidFill>
            <a:srgbClr val="EFF6FF"/>
          </a:solidFill>
          <a:ln w="6350">
            <a:solidFill>
              <a:srgbClr val="CBD5E1"/>
            </a:solidFill>
            <a:prstDash val="solid"/>
          </a:ln>
        </p:spPr>
      </p:sp>
      <p:sp>
        <p:nvSpPr>
          <p:cNvPr id="21" name="Text 18"/>
          <p:cNvSpPr/>
          <p:nvPr/>
        </p:nvSpPr>
        <p:spPr>
          <a:xfrm>
            <a:off x="4937760" y="1965960"/>
            <a:ext cx="1508760" cy="320040"/>
          </a:xfrm>
          <a:prstGeom prst="rect">
            <a:avLst/>
          </a:prstGeom>
          <a:noFill/>
          <a:ln/>
        </p:spPr>
        <p:txBody>
          <a:bodyPr wrap="square" rtlCol="0" anchor="ctr"/>
          <a:lstStyle/>
          <a:p>
            <a:pPr algn="ctr" indent="0" marL="0">
              <a:buNone/>
            </a:pPr>
            <a:r>
              <a:rPr lang="en-US" sz="900" b="1" dirty="0">
                <a:solidFill>
                  <a:srgbClr val="1E3A8A"/>
                </a:solidFill>
                <a:latin typeface="Arial" pitchFamily="34" charset="0"/>
                <a:ea typeface="Arial" pitchFamily="34" charset="-122"/>
                <a:cs typeface="Arial" pitchFamily="34" charset="-120"/>
              </a:rPr>
              <a:t>Government</a:t>
            </a:r>
            <a:endParaRPr lang="en-US" sz="900" dirty="0"/>
          </a:p>
        </p:txBody>
      </p:sp>
      <p:sp>
        <p:nvSpPr>
          <p:cNvPr id="22" name="Shape 19"/>
          <p:cNvSpPr/>
          <p:nvPr/>
        </p:nvSpPr>
        <p:spPr>
          <a:xfrm>
            <a:off x="6629400" y="1828800"/>
            <a:ext cx="1691640" cy="594360"/>
          </a:xfrm>
          <a:prstGeom prst="roundRect">
            <a:avLst>
              <a:gd name="adj" fmla="val 6154"/>
            </a:avLst>
          </a:prstGeom>
          <a:solidFill>
            <a:srgbClr val="EFF6FF"/>
          </a:solidFill>
          <a:ln w="6350">
            <a:solidFill>
              <a:srgbClr val="CBD5E1"/>
            </a:solidFill>
            <a:prstDash val="solid"/>
          </a:ln>
        </p:spPr>
      </p:sp>
      <p:sp>
        <p:nvSpPr>
          <p:cNvPr id="23" name="Text 20"/>
          <p:cNvSpPr/>
          <p:nvPr/>
        </p:nvSpPr>
        <p:spPr>
          <a:xfrm>
            <a:off x="6720840" y="1965960"/>
            <a:ext cx="1508760" cy="320040"/>
          </a:xfrm>
          <a:prstGeom prst="rect">
            <a:avLst/>
          </a:prstGeom>
          <a:noFill/>
          <a:ln/>
        </p:spPr>
        <p:txBody>
          <a:bodyPr wrap="square" rtlCol="0" anchor="ctr"/>
          <a:lstStyle/>
          <a:p>
            <a:pPr algn="ctr" indent="0" marL="0">
              <a:buNone/>
            </a:pPr>
            <a:r>
              <a:rPr lang="en-US" sz="900" b="1" dirty="0">
                <a:solidFill>
                  <a:srgbClr val="1E3A8A"/>
                </a:solidFill>
                <a:latin typeface="Arial" pitchFamily="34" charset="0"/>
                <a:ea typeface="Arial" pitchFamily="34" charset="-122"/>
                <a:cs typeface="Arial" pitchFamily="34" charset="-120"/>
              </a:rPr>
              <a:t>Defence</a:t>
            </a:r>
            <a:endParaRPr lang="en-US" sz="900" dirty="0"/>
          </a:p>
        </p:txBody>
      </p:sp>
      <p:sp>
        <p:nvSpPr>
          <p:cNvPr id="24" name="Shape 21"/>
          <p:cNvSpPr/>
          <p:nvPr/>
        </p:nvSpPr>
        <p:spPr>
          <a:xfrm>
            <a:off x="4846320" y="2560320"/>
            <a:ext cx="1691640" cy="594360"/>
          </a:xfrm>
          <a:prstGeom prst="roundRect">
            <a:avLst>
              <a:gd name="adj" fmla="val 6154"/>
            </a:avLst>
          </a:prstGeom>
          <a:solidFill>
            <a:srgbClr val="EFF6FF"/>
          </a:solidFill>
          <a:ln w="6350">
            <a:solidFill>
              <a:srgbClr val="CBD5E1"/>
            </a:solidFill>
            <a:prstDash val="solid"/>
          </a:ln>
        </p:spPr>
      </p:sp>
      <p:sp>
        <p:nvSpPr>
          <p:cNvPr id="25" name="Text 22"/>
          <p:cNvSpPr/>
          <p:nvPr/>
        </p:nvSpPr>
        <p:spPr>
          <a:xfrm>
            <a:off x="4937760" y="2697480"/>
            <a:ext cx="1508760" cy="320040"/>
          </a:xfrm>
          <a:prstGeom prst="rect">
            <a:avLst/>
          </a:prstGeom>
          <a:noFill/>
          <a:ln/>
        </p:spPr>
        <p:txBody>
          <a:bodyPr wrap="square" rtlCol="0" anchor="ctr"/>
          <a:lstStyle/>
          <a:p>
            <a:pPr algn="ctr" indent="0" marL="0">
              <a:buNone/>
            </a:pPr>
            <a:r>
              <a:rPr lang="en-US" sz="900" b="1" dirty="0">
                <a:solidFill>
                  <a:srgbClr val="1E3A8A"/>
                </a:solidFill>
                <a:latin typeface="Arial" pitchFamily="34" charset="0"/>
                <a:ea typeface="Arial" pitchFamily="34" charset="-122"/>
                <a:cs typeface="Arial" pitchFamily="34" charset="-120"/>
              </a:rPr>
              <a:t>Critical Infrastructure</a:t>
            </a:r>
            <a:endParaRPr lang="en-US" sz="900" dirty="0"/>
          </a:p>
        </p:txBody>
      </p:sp>
      <p:sp>
        <p:nvSpPr>
          <p:cNvPr id="26" name="Shape 23"/>
          <p:cNvSpPr/>
          <p:nvPr/>
        </p:nvSpPr>
        <p:spPr>
          <a:xfrm>
            <a:off x="6629400" y="2560320"/>
            <a:ext cx="1691640" cy="594360"/>
          </a:xfrm>
          <a:prstGeom prst="roundRect">
            <a:avLst>
              <a:gd name="adj" fmla="val 6154"/>
            </a:avLst>
          </a:prstGeom>
          <a:solidFill>
            <a:srgbClr val="EFF6FF"/>
          </a:solidFill>
          <a:ln w="6350">
            <a:solidFill>
              <a:srgbClr val="CBD5E1"/>
            </a:solidFill>
            <a:prstDash val="solid"/>
          </a:ln>
        </p:spPr>
      </p:sp>
      <p:sp>
        <p:nvSpPr>
          <p:cNvPr id="27" name="Text 24"/>
          <p:cNvSpPr/>
          <p:nvPr/>
        </p:nvSpPr>
        <p:spPr>
          <a:xfrm>
            <a:off x="6720840" y="2697480"/>
            <a:ext cx="1508760" cy="320040"/>
          </a:xfrm>
          <a:prstGeom prst="rect">
            <a:avLst/>
          </a:prstGeom>
          <a:noFill/>
          <a:ln/>
        </p:spPr>
        <p:txBody>
          <a:bodyPr wrap="square" rtlCol="0" anchor="ctr"/>
          <a:lstStyle/>
          <a:p>
            <a:pPr algn="ctr" indent="0" marL="0">
              <a:buNone/>
            </a:pPr>
            <a:r>
              <a:rPr lang="en-US" sz="900" b="1" dirty="0">
                <a:solidFill>
                  <a:srgbClr val="1E3A8A"/>
                </a:solidFill>
                <a:latin typeface="Arial" pitchFamily="34" charset="0"/>
                <a:ea typeface="Arial" pitchFamily="34" charset="-122"/>
                <a:cs typeface="Arial" pitchFamily="34" charset="-120"/>
              </a:rPr>
              <a:t>Telecommunications</a:t>
            </a:r>
            <a:endParaRPr lang="en-US" sz="900" dirty="0"/>
          </a:p>
        </p:txBody>
      </p:sp>
      <p:sp>
        <p:nvSpPr>
          <p:cNvPr id="28" name="Shape 25"/>
          <p:cNvSpPr/>
          <p:nvPr/>
        </p:nvSpPr>
        <p:spPr>
          <a:xfrm>
            <a:off x="4846320" y="3291840"/>
            <a:ext cx="1691640" cy="594360"/>
          </a:xfrm>
          <a:prstGeom prst="roundRect">
            <a:avLst>
              <a:gd name="adj" fmla="val 6154"/>
            </a:avLst>
          </a:prstGeom>
          <a:solidFill>
            <a:srgbClr val="EFF6FF"/>
          </a:solidFill>
          <a:ln w="6350">
            <a:solidFill>
              <a:srgbClr val="CBD5E1"/>
            </a:solidFill>
            <a:prstDash val="solid"/>
          </a:ln>
        </p:spPr>
      </p:sp>
      <p:sp>
        <p:nvSpPr>
          <p:cNvPr id="29" name="Text 26"/>
          <p:cNvSpPr/>
          <p:nvPr/>
        </p:nvSpPr>
        <p:spPr>
          <a:xfrm>
            <a:off x="4937760" y="3429000"/>
            <a:ext cx="1508760" cy="320040"/>
          </a:xfrm>
          <a:prstGeom prst="rect">
            <a:avLst/>
          </a:prstGeom>
          <a:noFill/>
          <a:ln/>
        </p:spPr>
        <p:txBody>
          <a:bodyPr wrap="square" rtlCol="0" anchor="ctr"/>
          <a:lstStyle/>
          <a:p>
            <a:pPr algn="ctr" indent="0" marL="0">
              <a:buNone/>
            </a:pPr>
            <a:r>
              <a:rPr lang="en-US" sz="900" b="1" dirty="0">
                <a:solidFill>
                  <a:srgbClr val="1E3A8A"/>
                </a:solidFill>
                <a:latin typeface="Arial" pitchFamily="34" charset="0"/>
                <a:ea typeface="Arial" pitchFamily="34" charset="-122"/>
                <a:cs typeface="Arial" pitchFamily="34" charset="-120"/>
              </a:rPr>
              <a:t>Research</a:t>
            </a:r>
            <a:endParaRPr lang="en-US" sz="900" dirty="0"/>
          </a:p>
        </p:txBody>
      </p:sp>
      <p:sp>
        <p:nvSpPr>
          <p:cNvPr id="30" name="Shape 27"/>
          <p:cNvSpPr/>
          <p:nvPr/>
        </p:nvSpPr>
        <p:spPr>
          <a:xfrm>
            <a:off x="6629400" y="3291840"/>
            <a:ext cx="1691640" cy="594360"/>
          </a:xfrm>
          <a:prstGeom prst="roundRect">
            <a:avLst>
              <a:gd name="adj" fmla="val 6154"/>
            </a:avLst>
          </a:prstGeom>
          <a:solidFill>
            <a:srgbClr val="EFF6FF"/>
          </a:solidFill>
          <a:ln w="6350">
            <a:solidFill>
              <a:srgbClr val="CBD5E1"/>
            </a:solidFill>
            <a:prstDash val="solid"/>
          </a:ln>
        </p:spPr>
      </p:sp>
      <p:sp>
        <p:nvSpPr>
          <p:cNvPr id="31" name="Text 28"/>
          <p:cNvSpPr/>
          <p:nvPr/>
        </p:nvSpPr>
        <p:spPr>
          <a:xfrm>
            <a:off x="6720840" y="3429000"/>
            <a:ext cx="1508760" cy="320040"/>
          </a:xfrm>
          <a:prstGeom prst="rect">
            <a:avLst/>
          </a:prstGeom>
          <a:noFill/>
          <a:ln/>
        </p:spPr>
        <p:txBody>
          <a:bodyPr wrap="square" rtlCol="0" anchor="ctr"/>
          <a:lstStyle/>
          <a:p>
            <a:pPr algn="ctr" indent="0" marL="0">
              <a:buNone/>
            </a:pPr>
            <a:r>
              <a:rPr lang="en-US" sz="900" b="1" dirty="0">
                <a:solidFill>
                  <a:srgbClr val="1E3A8A"/>
                </a:solidFill>
                <a:latin typeface="Arial" pitchFamily="34" charset="0"/>
                <a:ea typeface="Arial" pitchFamily="34" charset="-122"/>
                <a:cs typeface="Arial" pitchFamily="34" charset="-120"/>
              </a:rPr>
              <a:t>Financial Services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hape 0"/>
          <p:cNvSpPr/>
          <p:nvPr/>
        </p:nvSpPr>
        <p:spPr>
          <a:xfrm>
            <a:off x="548640" y="4572000"/>
            <a:ext cx="8046720" cy="18288"/>
          </a:xfrm>
          <a:prstGeom prst="rect">
            <a:avLst/>
          </a:prstGeom>
          <a:solidFill>
            <a:srgbClr val="CBD5E1"/>
          </a:solidFill>
          <a:ln w="12700">
            <a:solidFill>
              <a:srgbClr val="CBD5E1"/>
            </a:solidFill>
            <a:prstDash val="solid"/>
          </a:ln>
        </p:spPr>
      </p:sp>
      <p:sp>
        <p:nvSpPr>
          <p:cNvPr id="4" name="Text 1"/>
          <p:cNvSpPr/>
          <p:nvPr/>
        </p:nvSpPr>
        <p:spPr>
          <a:xfrm>
            <a:off x="548640" y="4663440"/>
            <a:ext cx="5486400" cy="27432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TRANSFORMAI GROUNDED INTELLIGENCE ENGINE  |  ADVISORY ID: TAI-ADV-2026-88421</a:t>
            </a:r>
            <a:endParaRPr lang="en-US" sz="800" dirty="0"/>
          </a:p>
        </p:txBody>
      </p:sp>
      <p:sp>
        <p:nvSpPr>
          <p:cNvPr id="5" name="Text 2"/>
          <p:cNvSpPr/>
          <p:nvPr/>
        </p:nvSpPr>
        <p:spPr>
          <a:xfrm>
            <a:off x="6035040" y="4663440"/>
            <a:ext cx="2560320" cy="274320"/>
          </a:xfrm>
          <a:prstGeom prst="rect">
            <a:avLst/>
          </a:prstGeom>
          <a:noFill/>
          <a:ln/>
        </p:spPr>
        <p:txBody>
          <a:bodyPr wrap="square" rtlCol="0" anchor="ctr"/>
          <a:lstStyle/>
          <a:p>
            <a:pPr algn="r" indent="0" marL="0">
              <a:buNone/>
            </a:pPr>
            <a:r>
              <a:rPr lang="en-US" sz="800" b="1" dirty="0">
                <a:solidFill>
                  <a:srgbClr val="64748B"/>
                </a:solidFill>
                <a:latin typeface="Arial" pitchFamily="34" charset="0"/>
                <a:ea typeface="Arial" pitchFamily="34" charset="-122"/>
                <a:cs typeface="Arial" pitchFamily="34" charset="-120"/>
              </a:rPr>
              <a:t>TLP:AMBER+STRICT  |  SLIDE 5 OF 11</a:t>
            </a:r>
            <a:endParaRPr lang="en-US" sz="800" dirty="0"/>
          </a:p>
        </p:txBody>
      </p:sp>
      <p:sp>
        <p:nvSpPr>
          <p:cNvPr id="6" name="Text 3"/>
          <p:cNvSpPr/>
          <p:nvPr/>
        </p:nvSpPr>
        <p:spPr>
          <a:xfrm>
            <a:off x="5943600" y="320040"/>
            <a:ext cx="2651760" cy="256032"/>
          </a:xfrm>
          <a:prstGeom prst="rect">
            <a:avLst/>
          </a:prstGeom>
          <a:noFill/>
          <a:ln/>
        </p:spPr>
        <p:txBody>
          <a:bodyPr wrap="square" rtlCol="0" anchor="ctr"/>
          <a:lstStyle/>
          <a:p>
            <a:pPr algn="r" indent="0" marL="0">
              <a:buNone/>
            </a:pPr>
            <a:r>
              <a:rPr lang="en-US" sz="800" i="1" dirty="0">
                <a:solidFill>
                  <a:srgbClr val="64748B"/>
                </a:solidFill>
                <a:latin typeface="Arial" pitchFamily="34" charset="0"/>
                <a:ea typeface="Arial" pitchFamily="34" charset="-122"/>
                <a:cs typeface="Arial" pitchFamily="34" charset="-120"/>
              </a:rPr>
              <a:t>Source: TAI-ADV-2026-88421, Section 5</a:t>
            </a:r>
            <a:endParaRPr lang="en-US" sz="800" dirty="0"/>
          </a:p>
        </p:txBody>
      </p:sp>
      <p:sp>
        <p:nvSpPr>
          <p:cNvPr id="7" name="Text 4"/>
          <p:cNvSpPr/>
          <p:nvPr/>
        </p:nvSpPr>
        <p:spPr>
          <a:xfrm>
            <a:off x="548640" y="320040"/>
            <a:ext cx="4114800" cy="228600"/>
          </a:xfrm>
          <a:prstGeom prst="rect">
            <a:avLst/>
          </a:prstGeom>
          <a:noFill/>
          <a:ln/>
        </p:spPr>
        <p:txBody>
          <a:bodyPr wrap="square" rtlCol="0" anchor="ctr"/>
          <a:lstStyle/>
          <a:p>
            <a:pPr indent="0" marL="0">
              <a:buNone/>
            </a:pPr>
            <a:r>
              <a:rPr lang="en-US" sz="800" b="1" dirty="0">
                <a:solidFill>
                  <a:srgbClr val="1E3A8A"/>
                </a:solidFill>
                <a:latin typeface="Arial" pitchFamily="34" charset="0"/>
                <a:ea typeface="Arial" pitchFamily="34" charset="-122"/>
                <a:cs typeface="Arial" pitchFamily="34" charset="-120"/>
              </a:rPr>
              <a:t>FORENSIC PROGRESSION</a:t>
            </a:r>
            <a:endParaRPr lang="en-US" sz="800" dirty="0"/>
          </a:p>
        </p:txBody>
      </p:sp>
      <p:sp>
        <p:nvSpPr>
          <p:cNvPr id="8" name="Text 5"/>
          <p:cNvSpPr/>
          <p:nvPr/>
        </p:nvSpPr>
        <p:spPr>
          <a:xfrm>
            <a:off x="548640" y="548640"/>
            <a:ext cx="7772400" cy="411480"/>
          </a:xfrm>
          <a:prstGeom prst="rect">
            <a:avLst/>
          </a:prstGeom>
          <a:noFill/>
          <a:ln/>
        </p:spPr>
        <p:txBody>
          <a:bodyPr wrap="square" rtlCol="0" anchor="ctr"/>
          <a:lstStyle/>
          <a:p>
            <a:pPr indent="0" marL="0">
              <a:buNone/>
            </a:pPr>
            <a:r>
              <a:rPr lang="en-US" sz="2000" b="1" dirty="0">
                <a:solidFill>
                  <a:srgbClr val="0B1930"/>
                </a:solidFill>
                <a:latin typeface="Arial" pitchFamily="34" charset="0"/>
                <a:ea typeface="Arial" pitchFamily="34" charset="-122"/>
                <a:cs typeface="Arial" pitchFamily="34" charset="-120"/>
              </a:rPr>
              <a:t>Attack Chain</a:t>
            </a:r>
            <a:endParaRPr lang="en-US" sz="2000" dirty="0"/>
          </a:p>
        </p:txBody>
      </p:sp>
      <p:sp>
        <p:nvSpPr>
          <p:cNvPr id="9" name="Text 6"/>
          <p:cNvSpPr/>
          <p:nvPr/>
        </p:nvSpPr>
        <p:spPr>
          <a:xfrm>
            <a:off x="548640" y="960120"/>
            <a:ext cx="77724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End-to-End Forensic Attack Progression</a:t>
            </a:r>
            <a:endParaRPr lang="en-US" sz="1000" dirty="0"/>
          </a:p>
        </p:txBody>
      </p:sp>
      <p:sp>
        <p:nvSpPr>
          <p:cNvPr id="10" name="Shape 7"/>
          <p:cNvSpPr/>
          <p:nvPr/>
        </p:nvSpPr>
        <p:spPr>
          <a:xfrm>
            <a:off x="548640" y="1417320"/>
            <a:ext cx="1874520" cy="1234440"/>
          </a:xfrm>
          <a:prstGeom prst="roundRect">
            <a:avLst>
              <a:gd name="adj" fmla="val 4444"/>
            </a:avLst>
          </a:prstGeom>
          <a:solidFill>
            <a:srgbClr val="FFFFFF"/>
          </a:solidFill>
          <a:ln w="9525">
            <a:solidFill>
              <a:srgbClr val="1E3A8A"/>
            </a:solidFill>
            <a:prstDash val="solid"/>
          </a:ln>
        </p:spPr>
      </p:sp>
      <p:sp>
        <p:nvSpPr>
          <p:cNvPr id="11" name="Shape 8"/>
          <p:cNvSpPr/>
          <p:nvPr/>
        </p:nvSpPr>
        <p:spPr>
          <a:xfrm>
            <a:off x="548640" y="1417320"/>
            <a:ext cx="411480" cy="256032"/>
          </a:xfrm>
          <a:prstGeom prst="rect">
            <a:avLst/>
          </a:prstGeom>
          <a:solidFill>
            <a:srgbClr val="0B1930"/>
          </a:solidFill>
          <a:ln/>
        </p:spPr>
      </p:sp>
      <p:sp>
        <p:nvSpPr>
          <p:cNvPr id="12" name="Text 9"/>
          <p:cNvSpPr/>
          <p:nvPr/>
        </p:nvSpPr>
        <p:spPr>
          <a:xfrm>
            <a:off x="548640" y="1435608"/>
            <a:ext cx="41148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3" name="Text 10"/>
          <p:cNvSpPr/>
          <p:nvPr/>
        </p:nvSpPr>
        <p:spPr>
          <a:xfrm>
            <a:off x="1005840" y="1435608"/>
            <a:ext cx="1325880" cy="320040"/>
          </a:xfrm>
          <a:prstGeom prst="rect">
            <a:avLst/>
          </a:prstGeom>
          <a:noFill/>
          <a:ln/>
        </p:spPr>
        <p:txBody>
          <a:bodyPr wrap="square" rtlCol="0" anchor="ctr"/>
          <a:lstStyle/>
          <a:p>
            <a:pPr indent="0" marL="0">
              <a:buNone/>
            </a:pPr>
            <a:r>
              <a:rPr lang="en-US" sz="900" b="1" dirty="0">
                <a:solidFill>
                  <a:srgbClr val="0B1930"/>
                </a:solidFill>
                <a:latin typeface="Arial" pitchFamily="34" charset="0"/>
                <a:ea typeface="Arial" pitchFamily="34" charset="-122"/>
                <a:cs typeface="Arial" pitchFamily="34" charset="-120"/>
              </a:rPr>
              <a:t>Initial Access</a:t>
            </a:r>
            <a:endParaRPr lang="en-US" sz="900" dirty="0"/>
          </a:p>
        </p:txBody>
      </p:sp>
      <p:sp>
        <p:nvSpPr>
          <p:cNvPr id="14" name="Text 11"/>
          <p:cNvSpPr/>
          <p:nvPr/>
        </p:nvSpPr>
        <p:spPr>
          <a:xfrm>
            <a:off x="640080" y="1801368"/>
            <a:ext cx="1691640" cy="777240"/>
          </a:xfrm>
          <a:prstGeom prst="rect">
            <a:avLst/>
          </a:prstGeom>
          <a:noFill/>
          <a:ln/>
        </p:spPr>
        <p:txBody>
          <a:bodyPr wrap="square" rtlCol="0" anchor="ctr"/>
          <a:lstStyle/>
          <a:p>
            <a:pPr indent="0" marL="0">
              <a:lnSpc>
                <a:spcPts val="1100"/>
              </a:lnSpc>
              <a:buNone/>
            </a:pPr>
            <a:r>
              <a:rPr lang="en-US" sz="780" dirty="0">
                <a:solidFill>
                  <a:srgbClr val="1E293B"/>
                </a:solidFill>
                <a:latin typeface="Arial" pitchFamily="34" charset="0"/>
                <a:ea typeface="Arial" pitchFamily="34" charset="-122"/>
                <a:cs typeface="Arial" pitchFamily="34" charset="-120"/>
              </a:rPr>
              <a:t>Probing of internet-facing OrionGate Web Gateway instances on port 443.</a:t>
            </a:r>
            <a:endParaRPr lang="en-US" sz="780" dirty="0"/>
          </a:p>
        </p:txBody>
      </p:sp>
      <p:sp>
        <p:nvSpPr>
          <p:cNvPr id="15" name="Text 12"/>
          <p:cNvSpPr/>
          <p:nvPr/>
        </p:nvSpPr>
        <p:spPr>
          <a:xfrm>
            <a:off x="2423160" y="1828800"/>
            <a:ext cx="182880" cy="274320"/>
          </a:xfrm>
          <a:prstGeom prst="rect">
            <a:avLst/>
          </a:prstGeom>
          <a:noFill/>
          <a:ln/>
        </p:spPr>
        <p:txBody>
          <a:bodyPr wrap="square" rtlCol="0" anchor="ctr"/>
          <a:lstStyle/>
          <a:p>
            <a:pPr algn="ctr" indent="0" marL="0">
              <a:buNone/>
            </a:pPr>
            <a:r>
              <a:rPr lang="en-US" sz="1400" b="1" dirty="0">
                <a:solidFill>
                  <a:srgbClr val="1E3A8A"/>
                </a:solidFill>
                <a:latin typeface="Arial" pitchFamily="34" charset="0"/>
                <a:ea typeface="Arial" pitchFamily="34" charset="-122"/>
                <a:cs typeface="Arial" pitchFamily="34" charset="-120"/>
              </a:rPr>
              <a:t>→</a:t>
            </a:r>
            <a:endParaRPr lang="en-US" sz="1400" dirty="0"/>
          </a:p>
        </p:txBody>
      </p:sp>
      <p:sp>
        <p:nvSpPr>
          <p:cNvPr id="16" name="Shape 13"/>
          <p:cNvSpPr/>
          <p:nvPr/>
        </p:nvSpPr>
        <p:spPr>
          <a:xfrm>
            <a:off x="2606040" y="1417320"/>
            <a:ext cx="1874520" cy="1234440"/>
          </a:xfrm>
          <a:prstGeom prst="roundRect">
            <a:avLst>
              <a:gd name="adj" fmla="val 4444"/>
            </a:avLst>
          </a:prstGeom>
          <a:solidFill>
            <a:srgbClr val="FFFFFF"/>
          </a:solidFill>
          <a:ln w="9525">
            <a:solidFill>
              <a:srgbClr val="1E3A8A"/>
            </a:solidFill>
            <a:prstDash val="solid"/>
          </a:ln>
        </p:spPr>
      </p:sp>
      <p:sp>
        <p:nvSpPr>
          <p:cNvPr id="17" name="Shape 14"/>
          <p:cNvSpPr/>
          <p:nvPr/>
        </p:nvSpPr>
        <p:spPr>
          <a:xfrm>
            <a:off x="2606040" y="1417320"/>
            <a:ext cx="411480" cy="256032"/>
          </a:xfrm>
          <a:prstGeom prst="rect">
            <a:avLst/>
          </a:prstGeom>
          <a:solidFill>
            <a:srgbClr val="0B1930"/>
          </a:solidFill>
          <a:ln/>
        </p:spPr>
      </p:sp>
      <p:sp>
        <p:nvSpPr>
          <p:cNvPr id="18" name="Text 15"/>
          <p:cNvSpPr/>
          <p:nvPr/>
        </p:nvSpPr>
        <p:spPr>
          <a:xfrm>
            <a:off x="2606040" y="1435608"/>
            <a:ext cx="41148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9" name="Text 16"/>
          <p:cNvSpPr/>
          <p:nvPr/>
        </p:nvSpPr>
        <p:spPr>
          <a:xfrm>
            <a:off x="3063240" y="1435608"/>
            <a:ext cx="1325880" cy="320040"/>
          </a:xfrm>
          <a:prstGeom prst="rect">
            <a:avLst/>
          </a:prstGeom>
          <a:noFill/>
          <a:ln/>
        </p:spPr>
        <p:txBody>
          <a:bodyPr wrap="square" rtlCol="0" anchor="ctr"/>
          <a:lstStyle/>
          <a:p>
            <a:pPr indent="0" marL="0">
              <a:buNone/>
            </a:pPr>
            <a:r>
              <a:rPr lang="en-US" sz="900" b="1" dirty="0">
                <a:solidFill>
                  <a:srgbClr val="0B1930"/>
                </a:solidFill>
                <a:latin typeface="Arial" pitchFamily="34" charset="0"/>
                <a:ea typeface="Arial" pitchFamily="34" charset="-122"/>
                <a:cs typeface="Arial" pitchFamily="34" charset="-120"/>
              </a:rPr>
              <a:t>Exploitation</a:t>
            </a:r>
            <a:endParaRPr lang="en-US" sz="900" dirty="0"/>
          </a:p>
        </p:txBody>
      </p:sp>
      <p:sp>
        <p:nvSpPr>
          <p:cNvPr id="20" name="Text 17"/>
          <p:cNvSpPr/>
          <p:nvPr/>
        </p:nvSpPr>
        <p:spPr>
          <a:xfrm>
            <a:off x="2697480" y="1801368"/>
            <a:ext cx="1691640" cy="777240"/>
          </a:xfrm>
          <a:prstGeom prst="rect">
            <a:avLst/>
          </a:prstGeom>
          <a:noFill/>
          <a:ln/>
        </p:spPr>
        <p:txBody>
          <a:bodyPr wrap="square" rtlCol="0" anchor="ctr"/>
          <a:lstStyle/>
          <a:p>
            <a:pPr indent="0" marL="0">
              <a:lnSpc>
                <a:spcPts val="1100"/>
              </a:lnSpc>
              <a:buNone/>
            </a:pPr>
            <a:r>
              <a:rPr lang="en-US" sz="780" dirty="0">
                <a:solidFill>
                  <a:srgbClr val="1E293B"/>
                </a:solidFill>
                <a:latin typeface="Arial" pitchFamily="34" charset="0"/>
                <a:ea typeface="Arial" pitchFamily="34" charset="-122"/>
                <a:cs typeface="Arial" pitchFamily="34" charset="-120"/>
              </a:rPr>
              <a:t>Delivery of crafted multipart payload exploiting CVE-2026-88421.</a:t>
            </a:r>
            <a:endParaRPr lang="en-US" sz="780" dirty="0"/>
          </a:p>
        </p:txBody>
      </p:sp>
      <p:sp>
        <p:nvSpPr>
          <p:cNvPr id="21" name="Text 18"/>
          <p:cNvSpPr/>
          <p:nvPr/>
        </p:nvSpPr>
        <p:spPr>
          <a:xfrm>
            <a:off x="4480560" y="1828800"/>
            <a:ext cx="182880" cy="274320"/>
          </a:xfrm>
          <a:prstGeom prst="rect">
            <a:avLst/>
          </a:prstGeom>
          <a:noFill/>
          <a:ln/>
        </p:spPr>
        <p:txBody>
          <a:bodyPr wrap="square" rtlCol="0" anchor="ctr"/>
          <a:lstStyle/>
          <a:p>
            <a:pPr algn="ctr" indent="0" marL="0">
              <a:buNone/>
            </a:pPr>
            <a:r>
              <a:rPr lang="en-US" sz="1400" b="1" dirty="0">
                <a:solidFill>
                  <a:srgbClr val="1E3A8A"/>
                </a:solidFill>
                <a:latin typeface="Arial" pitchFamily="34" charset="0"/>
                <a:ea typeface="Arial" pitchFamily="34" charset="-122"/>
                <a:cs typeface="Arial" pitchFamily="34" charset="-120"/>
              </a:rPr>
              <a:t>→</a:t>
            </a:r>
            <a:endParaRPr lang="en-US" sz="1400" dirty="0"/>
          </a:p>
        </p:txBody>
      </p:sp>
      <p:sp>
        <p:nvSpPr>
          <p:cNvPr id="22" name="Shape 19"/>
          <p:cNvSpPr/>
          <p:nvPr/>
        </p:nvSpPr>
        <p:spPr>
          <a:xfrm>
            <a:off x="4663440" y="1417320"/>
            <a:ext cx="1874520" cy="1234440"/>
          </a:xfrm>
          <a:prstGeom prst="roundRect">
            <a:avLst>
              <a:gd name="adj" fmla="val 4444"/>
            </a:avLst>
          </a:prstGeom>
          <a:solidFill>
            <a:srgbClr val="FFFFFF"/>
          </a:solidFill>
          <a:ln w="9525">
            <a:solidFill>
              <a:srgbClr val="1E3A8A"/>
            </a:solidFill>
            <a:prstDash val="solid"/>
          </a:ln>
        </p:spPr>
      </p:sp>
      <p:sp>
        <p:nvSpPr>
          <p:cNvPr id="23" name="Shape 20"/>
          <p:cNvSpPr/>
          <p:nvPr/>
        </p:nvSpPr>
        <p:spPr>
          <a:xfrm>
            <a:off x="4663440" y="1417320"/>
            <a:ext cx="411480" cy="256032"/>
          </a:xfrm>
          <a:prstGeom prst="rect">
            <a:avLst/>
          </a:prstGeom>
          <a:solidFill>
            <a:srgbClr val="0B1930"/>
          </a:solidFill>
          <a:ln/>
        </p:spPr>
      </p:sp>
      <p:sp>
        <p:nvSpPr>
          <p:cNvPr id="24" name="Text 21"/>
          <p:cNvSpPr/>
          <p:nvPr/>
        </p:nvSpPr>
        <p:spPr>
          <a:xfrm>
            <a:off x="4663440" y="1435608"/>
            <a:ext cx="41148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5" name="Text 22"/>
          <p:cNvSpPr/>
          <p:nvPr/>
        </p:nvSpPr>
        <p:spPr>
          <a:xfrm>
            <a:off x="5120640" y="1435608"/>
            <a:ext cx="1325880" cy="320040"/>
          </a:xfrm>
          <a:prstGeom prst="rect">
            <a:avLst/>
          </a:prstGeom>
          <a:noFill/>
          <a:ln/>
        </p:spPr>
        <p:txBody>
          <a:bodyPr wrap="square" rtlCol="0" anchor="ctr"/>
          <a:lstStyle/>
          <a:p>
            <a:pPr indent="0" marL="0">
              <a:buNone/>
            </a:pPr>
            <a:r>
              <a:rPr lang="en-US" sz="900" b="1" dirty="0">
                <a:solidFill>
                  <a:srgbClr val="0B1930"/>
                </a:solidFill>
                <a:latin typeface="Arial" pitchFamily="34" charset="0"/>
                <a:ea typeface="Arial" pitchFamily="34" charset="-122"/>
                <a:cs typeface="Arial" pitchFamily="34" charset="-120"/>
              </a:rPr>
              <a:t>Remote Code Execution</a:t>
            </a:r>
            <a:endParaRPr lang="en-US" sz="900" dirty="0"/>
          </a:p>
        </p:txBody>
      </p:sp>
      <p:sp>
        <p:nvSpPr>
          <p:cNvPr id="26" name="Text 23"/>
          <p:cNvSpPr/>
          <p:nvPr/>
        </p:nvSpPr>
        <p:spPr>
          <a:xfrm>
            <a:off x="4754880" y="1801368"/>
            <a:ext cx="1691640" cy="777240"/>
          </a:xfrm>
          <a:prstGeom prst="rect">
            <a:avLst/>
          </a:prstGeom>
          <a:noFill/>
          <a:ln/>
        </p:spPr>
        <p:txBody>
          <a:bodyPr wrap="square" rtlCol="0" anchor="ctr"/>
          <a:lstStyle/>
          <a:p>
            <a:pPr indent="0" marL="0">
              <a:lnSpc>
                <a:spcPts val="1100"/>
              </a:lnSpc>
              <a:buNone/>
            </a:pPr>
            <a:r>
              <a:rPr lang="en-US" sz="780" dirty="0">
                <a:solidFill>
                  <a:srgbClr val="1E293B"/>
                </a:solidFill>
                <a:latin typeface="Arial" pitchFamily="34" charset="0"/>
                <a:ea typeface="Arial" pitchFamily="34" charset="-122"/>
                <a:cs typeface="Arial" pitchFamily="34" charset="-120"/>
              </a:rPr>
              <a:t>Arbitrary command execution executed under elevated SYSTEM privileges.</a:t>
            </a:r>
            <a:endParaRPr lang="en-US" sz="780" dirty="0"/>
          </a:p>
        </p:txBody>
      </p:sp>
      <p:sp>
        <p:nvSpPr>
          <p:cNvPr id="27" name="Text 24"/>
          <p:cNvSpPr/>
          <p:nvPr/>
        </p:nvSpPr>
        <p:spPr>
          <a:xfrm>
            <a:off x="6537960" y="1828800"/>
            <a:ext cx="182880" cy="274320"/>
          </a:xfrm>
          <a:prstGeom prst="rect">
            <a:avLst/>
          </a:prstGeom>
          <a:noFill/>
          <a:ln/>
        </p:spPr>
        <p:txBody>
          <a:bodyPr wrap="square" rtlCol="0" anchor="ctr"/>
          <a:lstStyle/>
          <a:p>
            <a:pPr algn="ctr" indent="0" marL="0">
              <a:buNone/>
            </a:pPr>
            <a:r>
              <a:rPr lang="en-US" sz="1400" b="1" dirty="0">
                <a:solidFill>
                  <a:srgbClr val="1E3A8A"/>
                </a:solidFill>
                <a:latin typeface="Arial" pitchFamily="34" charset="0"/>
                <a:ea typeface="Arial" pitchFamily="34" charset="-122"/>
                <a:cs typeface="Arial" pitchFamily="34" charset="-120"/>
              </a:rPr>
              <a:t>→</a:t>
            </a:r>
            <a:endParaRPr lang="en-US" sz="1400" dirty="0"/>
          </a:p>
        </p:txBody>
      </p:sp>
      <p:sp>
        <p:nvSpPr>
          <p:cNvPr id="28" name="Shape 25"/>
          <p:cNvSpPr/>
          <p:nvPr/>
        </p:nvSpPr>
        <p:spPr>
          <a:xfrm>
            <a:off x="6720840" y="1417320"/>
            <a:ext cx="1874520" cy="1234440"/>
          </a:xfrm>
          <a:prstGeom prst="roundRect">
            <a:avLst>
              <a:gd name="adj" fmla="val 4444"/>
            </a:avLst>
          </a:prstGeom>
          <a:solidFill>
            <a:srgbClr val="FFFFFF"/>
          </a:solidFill>
          <a:ln w="9525">
            <a:solidFill>
              <a:srgbClr val="1E3A8A"/>
            </a:solidFill>
            <a:prstDash val="solid"/>
          </a:ln>
        </p:spPr>
      </p:sp>
      <p:sp>
        <p:nvSpPr>
          <p:cNvPr id="29" name="Shape 26"/>
          <p:cNvSpPr/>
          <p:nvPr/>
        </p:nvSpPr>
        <p:spPr>
          <a:xfrm>
            <a:off x="6720840" y="1417320"/>
            <a:ext cx="411480" cy="256032"/>
          </a:xfrm>
          <a:prstGeom prst="rect">
            <a:avLst/>
          </a:prstGeom>
          <a:solidFill>
            <a:srgbClr val="0B1930"/>
          </a:solidFill>
          <a:ln/>
        </p:spPr>
      </p:sp>
      <p:sp>
        <p:nvSpPr>
          <p:cNvPr id="30" name="Text 27"/>
          <p:cNvSpPr/>
          <p:nvPr/>
        </p:nvSpPr>
        <p:spPr>
          <a:xfrm>
            <a:off x="6720840" y="1435608"/>
            <a:ext cx="41148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31" name="Text 28"/>
          <p:cNvSpPr/>
          <p:nvPr/>
        </p:nvSpPr>
        <p:spPr>
          <a:xfrm>
            <a:off x="7178040" y="1435608"/>
            <a:ext cx="1325880" cy="320040"/>
          </a:xfrm>
          <a:prstGeom prst="rect">
            <a:avLst/>
          </a:prstGeom>
          <a:noFill/>
          <a:ln/>
        </p:spPr>
        <p:txBody>
          <a:bodyPr wrap="square" rtlCol="0" anchor="ctr"/>
          <a:lstStyle/>
          <a:p>
            <a:pPr indent="0" marL="0">
              <a:buNone/>
            </a:pPr>
            <a:r>
              <a:rPr lang="en-US" sz="900" b="1" dirty="0">
                <a:solidFill>
                  <a:srgbClr val="0B1930"/>
                </a:solidFill>
                <a:latin typeface="Arial" pitchFamily="34" charset="0"/>
                <a:ea typeface="Arial" pitchFamily="34" charset="-122"/>
                <a:cs typeface="Arial" pitchFamily="34" charset="-120"/>
              </a:rPr>
              <a:t>NightFalcon Deployment</a:t>
            </a:r>
            <a:endParaRPr lang="en-US" sz="900" dirty="0"/>
          </a:p>
        </p:txBody>
      </p:sp>
      <p:sp>
        <p:nvSpPr>
          <p:cNvPr id="32" name="Text 29"/>
          <p:cNvSpPr/>
          <p:nvPr/>
        </p:nvSpPr>
        <p:spPr>
          <a:xfrm>
            <a:off x="6812280" y="1801368"/>
            <a:ext cx="1691640" cy="777240"/>
          </a:xfrm>
          <a:prstGeom prst="rect">
            <a:avLst/>
          </a:prstGeom>
          <a:noFill/>
          <a:ln/>
        </p:spPr>
        <p:txBody>
          <a:bodyPr wrap="square" rtlCol="0" anchor="ctr"/>
          <a:lstStyle/>
          <a:p>
            <a:pPr indent="0" marL="0">
              <a:lnSpc>
                <a:spcPts val="1100"/>
              </a:lnSpc>
              <a:buNone/>
            </a:pPr>
            <a:r>
              <a:rPr lang="en-US" sz="780" dirty="0">
                <a:solidFill>
                  <a:srgbClr val="1E293B"/>
                </a:solidFill>
                <a:latin typeface="Arial" pitchFamily="34" charset="0"/>
                <a:ea typeface="Arial" pitchFamily="34" charset="-122"/>
                <a:cs typeface="Arial" pitchFamily="34" charset="-120"/>
              </a:rPr>
              <a:t>Staging and dropping of payload nfsvc.exe and library ogupdate.dll.</a:t>
            </a:r>
            <a:endParaRPr lang="en-US" sz="780" dirty="0"/>
          </a:p>
        </p:txBody>
      </p:sp>
      <p:sp>
        <p:nvSpPr>
          <p:cNvPr id="33" name="Shape 30"/>
          <p:cNvSpPr/>
          <p:nvPr/>
        </p:nvSpPr>
        <p:spPr>
          <a:xfrm>
            <a:off x="548640" y="2880360"/>
            <a:ext cx="1874520" cy="1234440"/>
          </a:xfrm>
          <a:prstGeom prst="roundRect">
            <a:avLst>
              <a:gd name="adj" fmla="val 4444"/>
            </a:avLst>
          </a:prstGeom>
          <a:solidFill>
            <a:srgbClr val="FFFFFF"/>
          </a:solidFill>
          <a:ln w="9525">
            <a:solidFill>
              <a:srgbClr val="1E3A8A"/>
            </a:solidFill>
            <a:prstDash val="solid"/>
          </a:ln>
        </p:spPr>
      </p:sp>
      <p:sp>
        <p:nvSpPr>
          <p:cNvPr id="34" name="Shape 31"/>
          <p:cNvSpPr/>
          <p:nvPr/>
        </p:nvSpPr>
        <p:spPr>
          <a:xfrm>
            <a:off x="548640" y="2880360"/>
            <a:ext cx="411480" cy="256032"/>
          </a:xfrm>
          <a:prstGeom prst="rect">
            <a:avLst/>
          </a:prstGeom>
          <a:solidFill>
            <a:srgbClr val="0B1930"/>
          </a:solidFill>
          <a:ln/>
        </p:spPr>
      </p:sp>
      <p:sp>
        <p:nvSpPr>
          <p:cNvPr id="35" name="Text 32"/>
          <p:cNvSpPr/>
          <p:nvPr/>
        </p:nvSpPr>
        <p:spPr>
          <a:xfrm>
            <a:off x="548640" y="2898648"/>
            <a:ext cx="41148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36" name="Text 33"/>
          <p:cNvSpPr/>
          <p:nvPr/>
        </p:nvSpPr>
        <p:spPr>
          <a:xfrm>
            <a:off x="1005840" y="2898648"/>
            <a:ext cx="1325880" cy="320040"/>
          </a:xfrm>
          <a:prstGeom prst="rect">
            <a:avLst/>
          </a:prstGeom>
          <a:noFill/>
          <a:ln/>
        </p:spPr>
        <p:txBody>
          <a:bodyPr wrap="square" rtlCol="0" anchor="ctr"/>
          <a:lstStyle/>
          <a:p>
            <a:pPr indent="0" marL="0">
              <a:buNone/>
            </a:pPr>
            <a:r>
              <a:rPr lang="en-US" sz="900" b="1" dirty="0">
                <a:solidFill>
                  <a:srgbClr val="0B1930"/>
                </a:solidFill>
                <a:latin typeface="Arial" pitchFamily="34" charset="0"/>
                <a:ea typeface="Arial" pitchFamily="34" charset="-122"/>
                <a:cs typeface="Arial" pitchFamily="34" charset="-120"/>
              </a:rPr>
              <a:t>Persistence</a:t>
            </a:r>
            <a:endParaRPr lang="en-US" sz="900" dirty="0"/>
          </a:p>
        </p:txBody>
      </p:sp>
      <p:sp>
        <p:nvSpPr>
          <p:cNvPr id="37" name="Text 34"/>
          <p:cNvSpPr/>
          <p:nvPr/>
        </p:nvSpPr>
        <p:spPr>
          <a:xfrm>
            <a:off x="640080" y="3264408"/>
            <a:ext cx="1691640" cy="777240"/>
          </a:xfrm>
          <a:prstGeom prst="rect">
            <a:avLst/>
          </a:prstGeom>
          <a:noFill/>
          <a:ln/>
        </p:spPr>
        <p:txBody>
          <a:bodyPr wrap="square" rtlCol="0" anchor="ctr"/>
          <a:lstStyle/>
          <a:p>
            <a:pPr indent="0" marL="0">
              <a:lnSpc>
                <a:spcPts val="1100"/>
              </a:lnSpc>
              <a:buNone/>
            </a:pPr>
            <a:r>
              <a:rPr lang="en-US" sz="780" dirty="0">
                <a:solidFill>
                  <a:srgbClr val="1E293B"/>
                </a:solidFill>
                <a:latin typeface="Arial" pitchFamily="34" charset="0"/>
                <a:ea typeface="Arial" pitchFamily="34" charset="-122"/>
                <a:cs typeface="Arial" pitchFamily="34" charset="-120"/>
              </a:rPr>
              <a:t>Installation of malicious Windows service OGUpdateService for restart survival.</a:t>
            </a:r>
            <a:endParaRPr lang="en-US" sz="780" dirty="0"/>
          </a:p>
        </p:txBody>
      </p:sp>
      <p:sp>
        <p:nvSpPr>
          <p:cNvPr id="38" name="Text 35"/>
          <p:cNvSpPr/>
          <p:nvPr/>
        </p:nvSpPr>
        <p:spPr>
          <a:xfrm>
            <a:off x="2423160" y="3291840"/>
            <a:ext cx="182880" cy="274320"/>
          </a:xfrm>
          <a:prstGeom prst="rect">
            <a:avLst/>
          </a:prstGeom>
          <a:noFill/>
          <a:ln/>
        </p:spPr>
        <p:txBody>
          <a:bodyPr wrap="square" rtlCol="0" anchor="ctr"/>
          <a:lstStyle/>
          <a:p>
            <a:pPr algn="ctr" indent="0" marL="0">
              <a:buNone/>
            </a:pPr>
            <a:r>
              <a:rPr lang="en-US" sz="1400" b="1" dirty="0">
                <a:solidFill>
                  <a:srgbClr val="1E3A8A"/>
                </a:solidFill>
                <a:latin typeface="Arial" pitchFamily="34" charset="0"/>
                <a:ea typeface="Arial" pitchFamily="34" charset="-122"/>
                <a:cs typeface="Arial" pitchFamily="34" charset="-120"/>
              </a:rPr>
              <a:t>→</a:t>
            </a:r>
            <a:endParaRPr lang="en-US" sz="1400" dirty="0"/>
          </a:p>
        </p:txBody>
      </p:sp>
      <p:sp>
        <p:nvSpPr>
          <p:cNvPr id="39" name="Shape 36"/>
          <p:cNvSpPr/>
          <p:nvPr/>
        </p:nvSpPr>
        <p:spPr>
          <a:xfrm>
            <a:off x="2606040" y="2880360"/>
            <a:ext cx="1874520" cy="1234440"/>
          </a:xfrm>
          <a:prstGeom prst="roundRect">
            <a:avLst>
              <a:gd name="adj" fmla="val 4444"/>
            </a:avLst>
          </a:prstGeom>
          <a:solidFill>
            <a:srgbClr val="FFFFFF"/>
          </a:solidFill>
          <a:ln w="9525">
            <a:solidFill>
              <a:srgbClr val="1E3A8A"/>
            </a:solidFill>
            <a:prstDash val="solid"/>
          </a:ln>
        </p:spPr>
      </p:sp>
      <p:sp>
        <p:nvSpPr>
          <p:cNvPr id="40" name="Shape 37"/>
          <p:cNvSpPr/>
          <p:nvPr/>
        </p:nvSpPr>
        <p:spPr>
          <a:xfrm>
            <a:off x="2606040" y="2880360"/>
            <a:ext cx="411480" cy="256032"/>
          </a:xfrm>
          <a:prstGeom prst="rect">
            <a:avLst/>
          </a:prstGeom>
          <a:solidFill>
            <a:srgbClr val="0B1930"/>
          </a:solidFill>
          <a:ln/>
        </p:spPr>
      </p:sp>
      <p:sp>
        <p:nvSpPr>
          <p:cNvPr id="41" name="Text 38"/>
          <p:cNvSpPr/>
          <p:nvPr/>
        </p:nvSpPr>
        <p:spPr>
          <a:xfrm>
            <a:off x="2606040" y="2898648"/>
            <a:ext cx="41148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42" name="Text 39"/>
          <p:cNvSpPr/>
          <p:nvPr/>
        </p:nvSpPr>
        <p:spPr>
          <a:xfrm>
            <a:off x="3063240" y="2898648"/>
            <a:ext cx="1325880" cy="320040"/>
          </a:xfrm>
          <a:prstGeom prst="rect">
            <a:avLst/>
          </a:prstGeom>
          <a:noFill/>
          <a:ln/>
        </p:spPr>
        <p:txBody>
          <a:bodyPr wrap="square" rtlCol="0" anchor="ctr"/>
          <a:lstStyle/>
          <a:p>
            <a:pPr indent="0" marL="0">
              <a:buNone/>
            </a:pPr>
            <a:r>
              <a:rPr lang="en-US" sz="900" b="1" dirty="0">
                <a:solidFill>
                  <a:srgbClr val="0B1930"/>
                </a:solidFill>
                <a:latin typeface="Arial" pitchFamily="34" charset="0"/>
                <a:ea typeface="Arial" pitchFamily="34" charset="-122"/>
                <a:cs typeface="Arial" pitchFamily="34" charset="-120"/>
              </a:rPr>
              <a:t>System Discovery</a:t>
            </a:r>
            <a:endParaRPr lang="en-US" sz="900" dirty="0"/>
          </a:p>
        </p:txBody>
      </p:sp>
      <p:sp>
        <p:nvSpPr>
          <p:cNvPr id="43" name="Text 40"/>
          <p:cNvSpPr/>
          <p:nvPr/>
        </p:nvSpPr>
        <p:spPr>
          <a:xfrm>
            <a:off x="2697480" y="3264408"/>
            <a:ext cx="1691640" cy="777240"/>
          </a:xfrm>
          <a:prstGeom prst="rect">
            <a:avLst/>
          </a:prstGeom>
          <a:noFill/>
          <a:ln/>
        </p:spPr>
        <p:txBody>
          <a:bodyPr wrap="square" rtlCol="0" anchor="ctr"/>
          <a:lstStyle/>
          <a:p>
            <a:pPr indent="0" marL="0">
              <a:lnSpc>
                <a:spcPts val="1100"/>
              </a:lnSpc>
              <a:buNone/>
            </a:pPr>
            <a:r>
              <a:rPr lang="en-US" sz="780" dirty="0">
                <a:solidFill>
                  <a:srgbClr val="1E293B"/>
                </a:solidFill>
                <a:latin typeface="Arial" pitchFamily="34" charset="0"/>
                <a:ea typeface="Arial" pitchFamily="34" charset="-122"/>
                <a:cs typeface="Arial" pitchFamily="34" charset="-120"/>
              </a:rPr>
              <a:t>Execution of local reconnaissance, network mapping, and Active Directory queries.</a:t>
            </a:r>
            <a:endParaRPr lang="en-US" sz="780" dirty="0"/>
          </a:p>
        </p:txBody>
      </p:sp>
      <p:sp>
        <p:nvSpPr>
          <p:cNvPr id="44" name="Text 41"/>
          <p:cNvSpPr/>
          <p:nvPr/>
        </p:nvSpPr>
        <p:spPr>
          <a:xfrm>
            <a:off x="4480560" y="3291840"/>
            <a:ext cx="182880" cy="274320"/>
          </a:xfrm>
          <a:prstGeom prst="rect">
            <a:avLst/>
          </a:prstGeom>
          <a:noFill/>
          <a:ln/>
        </p:spPr>
        <p:txBody>
          <a:bodyPr wrap="square" rtlCol="0" anchor="ctr"/>
          <a:lstStyle/>
          <a:p>
            <a:pPr algn="ctr" indent="0" marL="0">
              <a:buNone/>
            </a:pPr>
            <a:r>
              <a:rPr lang="en-US" sz="1400" b="1" dirty="0">
                <a:solidFill>
                  <a:srgbClr val="1E3A8A"/>
                </a:solidFill>
                <a:latin typeface="Arial" pitchFamily="34" charset="0"/>
                <a:ea typeface="Arial" pitchFamily="34" charset="-122"/>
                <a:cs typeface="Arial" pitchFamily="34" charset="-120"/>
              </a:rPr>
              <a:t>→</a:t>
            </a:r>
            <a:endParaRPr lang="en-US" sz="1400" dirty="0"/>
          </a:p>
        </p:txBody>
      </p:sp>
      <p:sp>
        <p:nvSpPr>
          <p:cNvPr id="45" name="Shape 42"/>
          <p:cNvSpPr/>
          <p:nvPr/>
        </p:nvSpPr>
        <p:spPr>
          <a:xfrm>
            <a:off x="4663440" y="2880360"/>
            <a:ext cx="1874520" cy="1234440"/>
          </a:xfrm>
          <a:prstGeom prst="roundRect">
            <a:avLst>
              <a:gd name="adj" fmla="val 4444"/>
            </a:avLst>
          </a:prstGeom>
          <a:solidFill>
            <a:srgbClr val="FFFFFF"/>
          </a:solidFill>
          <a:ln w="9525">
            <a:solidFill>
              <a:srgbClr val="1E3A8A"/>
            </a:solidFill>
            <a:prstDash val="solid"/>
          </a:ln>
        </p:spPr>
      </p:sp>
      <p:sp>
        <p:nvSpPr>
          <p:cNvPr id="46" name="Shape 43"/>
          <p:cNvSpPr/>
          <p:nvPr/>
        </p:nvSpPr>
        <p:spPr>
          <a:xfrm>
            <a:off x="4663440" y="2880360"/>
            <a:ext cx="411480" cy="256032"/>
          </a:xfrm>
          <a:prstGeom prst="rect">
            <a:avLst/>
          </a:prstGeom>
          <a:solidFill>
            <a:srgbClr val="0B1930"/>
          </a:solidFill>
          <a:ln/>
        </p:spPr>
      </p:sp>
      <p:sp>
        <p:nvSpPr>
          <p:cNvPr id="47" name="Text 44"/>
          <p:cNvSpPr/>
          <p:nvPr/>
        </p:nvSpPr>
        <p:spPr>
          <a:xfrm>
            <a:off x="4663440" y="2898648"/>
            <a:ext cx="41148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7</a:t>
            </a:r>
            <a:endParaRPr lang="en-US" sz="900" dirty="0"/>
          </a:p>
        </p:txBody>
      </p:sp>
      <p:sp>
        <p:nvSpPr>
          <p:cNvPr id="48" name="Text 45"/>
          <p:cNvSpPr/>
          <p:nvPr/>
        </p:nvSpPr>
        <p:spPr>
          <a:xfrm>
            <a:off x="5120640" y="2898648"/>
            <a:ext cx="1325880" cy="320040"/>
          </a:xfrm>
          <a:prstGeom prst="rect">
            <a:avLst/>
          </a:prstGeom>
          <a:noFill/>
          <a:ln/>
        </p:spPr>
        <p:txBody>
          <a:bodyPr wrap="square" rtlCol="0" anchor="ctr"/>
          <a:lstStyle/>
          <a:p>
            <a:pPr indent="0" marL="0">
              <a:buNone/>
            </a:pPr>
            <a:r>
              <a:rPr lang="en-US" sz="900" b="1" dirty="0">
                <a:solidFill>
                  <a:srgbClr val="0B1930"/>
                </a:solidFill>
                <a:latin typeface="Arial" pitchFamily="34" charset="0"/>
                <a:ea typeface="Arial" pitchFamily="34" charset="-122"/>
                <a:cs typeface="Arial" pitchFamily="34" charset="-120"/>
              </a:rPr>
              <a:t>Command &amp; Control</a:t>
            </a:r>
            <a:endParaRPr lang="en-US" sz="900" dirty="0"/>
          </a:p>
        </p:txBody>
      </p:sp>
      <p:sp>
        <p:nvSpPr>
          <p:cNvPr id="49" name="Text 46"/>
          <p:cNvSpPr/>
          <p:nvPr/>
        </p:nvSpPr>
        <p:spPr>
          <a:xfrm>
            <a:off x="4754880" y="3264408"/>
            <a:ext cx="1691640" cy="777240"/>
          </a:xfrm>
          <a:prstGeom prst="rect">
            <a:avLst/>
          </a:prstGeom>
          <a:noFill/>
          <a:ln/>
        </p:spPr>
        <p:txBody>
          <a:bodyPr wrap="square" rtlCol="0" anchor="ctr"/>
          <a:lstStyle/>
          <a:p>
            <a:pPr indent="0" marL="0">
              <a:lnSpc>
                <a:spcPts val="1100"/>
              </a:lnSpc>
              <a:buNone/>
            </a:pPr>
            <a:r>
              <a:rPr lang="en-US" sz="780" dirty="0">
                <a:solidFill>
                  <a:srgbClr val="1E293B"/>
                </a:solidFill>
                <a:latin typeface="Arial" pitchFamily="34" charset="0"/>
                <a:ea typeface="Arial" pitchFamily="34" charset="-122"/>
                <a:cs typeface="Arial" pitchFamily="34" charset="-120"/>
              </a:rPr>
              <a:t>Outbound encrypted HTTPS beaconing established to remote adversary infrastructure.</a:t>
            </a:r>
            <a:endParaRPr lang="en-US" sz="780" dirty="0"/>
          </a:p>
        </p:txBody>
      </p:sp>
      <p:sp>
        <p:nvSpPr>
          <p:cNvPr id="50" name="Text 47"/>
          <p:cNvSpPr/>
          <p:nvPr/>
        </p:nvSpPr>
        <p:spPr>
          <a:xfrm>
            <a:off x="6537960" y="3291840"/>
            <a:ext cx="182880" cy="274320"/>
          </a:xfrm>
          <a:prstGeom prst="rect">
            <a:avLst/>
          </a:prstGeom>
          <a:noFill/>
          <a:ln/>
        </p:spPr>
        <p:txBody>
          <a:bodyPr wrap="square" rtlCol="0" anchor="ctr"/>
          <a:lstStyle/>
          <a:p>
            <a:pPr algn="ctr" indent="0" marL="0">
              <a:buNone/>
            </a:pPr>
            <a:r>
              <a:rPr lang="en-US" sz="1400" b="1" dirty="0">
                <a:solidFill>
                  <a:srgbClr val="1E3A8A"/>
                </a:solidFill>
                <a:latin typeface="Arial" pitchFamily="34" charset="0"/>
                <a:ea typeface="Arial" pitchFamily="34" charset="-122"/>
                <a:cs typeface="Arial" pitchFamily="34" charset="-120"/>
              </a:rPr>
              <a:t>→</a:t>
            </a:r>
            <a:endParaRPr lang="en-US" sz="1400" dirty="0"/>
          </a:p>
        </p:txBody>
      </p:sp>
      <p:sp>
        <p:nvSpPr>
          <p:cNvPr id="51" name="Shape 48"/>
          <p:cNvSpPr/>
          <p:nvPr/>
        </p:nvSpPr>
        <p:spPr>
          <a:xfrm>
            <a:off x="6720840" y="2880360"/>
            <a:ext cx="1874520" cy="1234440"/>
          </a:xfrm>
          <a:prstGeom prst="roundRect">
            <a:avLst>
              <a:gd name="adj" fmla="val 4444"/>
            </a:avLst>
          </a:prstGeom>
          <a:solidFill>
            <a:srgbClr val="FFFFFF"/>
          </a:solidFill>
          <a:ln w="9525">
            <a:solidFill>
              <a:srgbClr val="1E3A8A"/>
            </a:solidFill>
            <a:prstDash val="solid"/>
          </a:ln>
        </p:spPr>
      </p:sp>
      <p:sp>
        <p:nvSpPr>
          <p:cNvPr id="52" name="Shape 49"/>
          <p:cNvSpPr/>
          <p:nvPr/>
        </p:nvSpPr>
        <p:spPr>
          <a:xfrm>
            <a:off x="6720840" y="2880360"/>
            <a:ext cx="411480" cy="256032"/>
          </a:xfrm>
          <a:prstGeom prst="rect">
            <a:avLst/>
          </a:prstGeom>
          <a:solidFill>
            <a:srgbClr val="0B1930"/>
          </a:solidFill>
          <a:ln/>
        </p:spPr>
      </p:sp>
      <p:sp>
        <p:nvSpPr>
          <p:cNvPr id="53" name="Text 50"/>
          <p:cNvSpPr/>
          <p:nvPr/>
        </p:nvSpPr>
        <p:spPr>
          <a:xfrm>
            <a:off x="6720840" y="2898648"/>
            <a:ext cx="411480" cy="22860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8</a:t>
            </a:r>
            <a:endParaRPr lang="en-US" sz="900" dirty="0"/>
          </a:p>
        </p:txBody>
      </p:sp>
      <p:sp>
        <p:nvSpPr>
          <p:cNvPr id="54" name="Text 51"/>
          <p:cNvSpPr/>
          <p:nvPr/>
        </p:nvSpPr>
        <p:spPr>
          <a:xfrm>
            <a:off x="7178040" y="2898648"/>
            <a:ext cx="1325880" cy="320040"/>
          </a:xfrm>
          <a:prstGeom prst="rect">
            <a:avLst/>
          </a:prstGeom>
          <a:noFill/>
          <a:ln/>
        </p:spPr>
        <p:txBody>
          <a:bodyPr wrap="square" rtlCol="0" anchor="ctr"/>
          <a:lstStyle/>
          <a:p>
            <a:pPr indent="0" marL="0">
              <a:buNone/>
            </a:pPr>
            <a:r>
              <a:rPr lang="en-US" sz="900" b="1" dirty="0">
                <a:solidFill>
                  <a:srgbClr val="0B1930"/>
                </a:solidFill>
                <a:latin typeface="Arial" pitchFamily="34" charset="0"/>
                <a:ea typeface="Arial" pitchFamily="34" charset="-122"/>
                <a:cs typeface="Arial" pitchFamily="34" charset="-120"/>
              </a:rPr>
              <a:t>Potential Data Collection</a:t>
            </a:r>
            <a:endParaRPr lang="en-US" sz="900" dirty="0"/>
          </a:p>
        </p:txBody>
      </p:sp>
      <p:sp>
        <p:nvSpPr>
          <p:cNvPr id="55" name="Text 52"/>
          <p:cNvSpPr/>
          <p:nvPr/>
        </p:nvSpPr>
        <p:spPr>
          <a:xfrm>
            <a:off x="6812280" y="3264408"/>
            <a:ext cx="1691640" cy="777240"/>
          </a:xfrm>
          <a:prstGeom prst="rect">
            <a:avLst/>
          </a:prstGeom>
          <a:noFill/>
          <a:ln/>
        </p:spPr>
        <p:txBody>
          <a:bodyPr wrap="square" rtlCol="0" anchor="ctr"/>
          <a:lstStyle/>
          <a:p>
            <a:pPr indent="0" marL="0">
              <a:lnSpc>
                <a:spcPts val="1100"/>
              </a:lnSpc>
              <a:buNone/>
            </a:pPr>
            <a:r>
              <a:rPr lang="en-US" sz="780" dirty="0">
                <a:solidFill>
                  <a:srgbClr val="1E293B"/>
                </a:solidFill>
                <a:latin typeface="Arial" pitchFamily="34" charset="0"/>
                <a:ea typeface="Arial" pitchFamily="34" charset="-122"/>
                <a:cs typeface="Arial" pitchFamily="34" charset="-120"/>
              </a:rPr>
              <a:t>Preparation and staging of sensitive enterprise credentials and directory data.</a:t>
            </a:r>
            <a:endParaRPr lang="en-US" sz="7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hape 0"/>
          <p:cNvSpPr/>
          <p:nvPr/>
        </p:nvSpPr>
        <p:spPr>
          <a:xfrm>
            <a:off x="548640" y="4572000"/>
            <a:ext cx="8046720" cy="18288"/>
          </a:xfrm>
          <a:prstGeom prst="rect">
            <a:avLst/>
          </a:prstGeom>
          <a:solidFill>
            <a:srgbClr val="CBD5E1"/>
          </a:solidFill>
          <a:ln w="12700">
            <a:solidFill>
              <a:srgbClr val="CBD5E1"/>
            </a:solidFill>
            <a:prstDash val="solid"/>
          </a:ln>
        </p:spPr>
      </p:sp>
      <p:sp>
        <p:nvSpPr>
          <p:cNvPr id="4" name="Text 1"/>
          <p:cNvSpPr/>
          <p:nvPr/>
        </p:nvSpPr>
        <p:spPr>
          <a:xfrm>
            <a:off x="548640" y="4663440"/>
            <a:ext cx="5486400" cy="27432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TRANSFORMAI GROUNDED INTELLIGENCE ENGINE  |  ADVISORY ID: TAI-ADV-2026-88421</a:t>
            </a:r>
            <a:endParaRPr lang="en-US" sz="800" dirty="0"/>
          </a:p>
        </p:txBody>
      </p:sp>
      <p:sp>
        <p:nvSpPr>
          <p:cNvPr id="5" name="Text 2"/>
          <p:cNvSpPr/>
          <p:nvPr/>
        </p:nvSpPr>
        <p:spPr>
          <a:xfrm>
            <a:off x="6035040" y="4663440"/>
            <a:ext cx="2560320" cy="274320"/>
          </a:xfrm>
          <a:prstGeom prst="rect">
            <a:avLst/>
          </a:prstGeom>
          <a:noFill/>
          <a:ln/>
        </p:spPr>
        <p:txBody>
          <a:bodyPr wrap="square" rtlCol="0" anchor="ctr"/>
          <a:lstStyle/>
          <a:p>
            <a:pPr algn="r" indent="0" marL="0">
              <a:buNone/>
            </a:pPr>
            <a:r>
              <a:rPr lang="en-US" sz="800" b="1" dirty="0">
                <a:solidFill>
                  <a:srgbClr val="64748B"/>
                </a:solidFill>
                <a:latin typeface="Arial" pitchFamily="34" charset="0"/>
                <a:ea typeface="Arial" pitchFamily="34" charset="-122"/>
                <a:cs typeface="Arial" pitchFamily="34" charset="-120"/>
              </a:rPr>
              <a:t>TLP:AMBER+STRICT  |  SLIDE 6 OF 11</a:t>
            </a:r>
            <a:endParaRPr lang="en-US" sz="800" dirty="0"/>
          </a:p>
        </p:txBody>
      </p:sp>
      <p:sp>
        <p:nvSpPr>
          <p:cNvPr id="6" name="Text 3"/>
          <p:cNvSpPr/>
          <p:nvPr/>
        </p:nvSpPr>
        <p:spPr>
          <a:xfrm>
            <a:off x="5943600" y="320040"/>
            <a:ext cx="2651760" cy="256032"/>
          </a:xfrm>
          <a:prstGeom prst="rect">
            <a:avLst/>
          </a:prstGeom>
          <a:noFill/>
          <a:ln/>
        </p:spPr>
        <p:txBody>
          <a:bodyPr wrap="square" rtlCol="0" anchor="ctr"/>
          <a:lstStyle/>
          <a:p>
            <a:pPr algn="r" indent="0" marL="0">
              <a:buNone/>
            </a:pPr>
            <a:r>
              <a:rPr lang="en-US" sz="800" i="1" dirty="0">
                <a:solidFill>
                  <a:srgbClr val="64748B"/>
                </a:solidFill>
                <a:latin typeface="Arial" pitchFamily="34" charset="0"/>
                <a:ea typeface="Arial" pitchFamily="34" charset="-122"/>
                <a:cs typeface="Arial" pitchFamily="34" charset="-120"/>
              </a:rPr>
              <a:t>Source: TAI-ADV-2026-88421, Section 6</a:t>
            </a:r>
            <a:endParaRPr lang="en-US" sz="800" dirty="0"/>
          </a:p>
        </p:txBody>
      </p:sp>
      <p:sp>
        <p:nvSpPr>
          <p:cNvPr id="7" name="Text 4"/>
          <p:cNvSpPr/>
          <p:nvPr/>
        </p:nvSpPr>
        <p:spPr>
          <a:xfrm>
            <a:off x="548640" y="320040"/>
            <a:ext cx="4114800" cy="228600"/>
          </a:xfrm>
          <a:prstGeom prst="rect">
            <a:avLst/>
          </a:prstGeom>
          <a:noFill/>
          <a:ln/>
        </p:spPr>
        <p:txBody>
          <a:bodyPr wrap="square" rtlCol="0" anchor="ctr"/>
          <a:lstStyle/>
          <a:p>
            <a:pPr indent="0" marL="0">
              <a:buNone/>
            </a:pPr>
            <a:r>
              <a:rPr lang="en-US" sz="800" b="1" dirty="0">
                <a:solidFill>
                  <a:srgbClr val="1E3A8A"/>
                </a:solidFill>
                <a:latin typeface="Arial" pitchFamily="34" charset="0"/>
                <a:ea typeface="Arial" pitchFamily="34" charset="-122"/>
                <a:cs typeface="Arial" pitchFamily="34" charset="-120"/>
              </a:rPr>
              <a:t>THREAT ACTOR ATTRIBUTION</a:t>
            </a:r>
            <a:endParaRPr lang="en-US" sz="800" dirty="0"/>
          </a:p>
        </p:txBody>
      </p:sp>
      <p:sp>
        <p:nvSpPr>
          <p:cNvPr id="8" name="Text 5"/>
          <p:cNvSpPr/>
          <p:nvPr/>
        </p:nvSpPr>
        <p:spPr>
          <a:xfrm>
            <a:off x="548640" y="548640"/>
            <a:ext cx="7772400" cy="411480"/>
          </a:xfrm>
          <a:prstGeom prst="rect">
            <a:avLst/>
          </a:prstGeom>
          <a:noFill/>
          <a:ln/>
        </p:spPr>
        <p:txBody>
          <a:bodyPr wrap="square" rtlCol="0" anchor="ctr"/>
          <a:lstStyle/>
          <a:p>
            <a:pPr indent="0" marL="0">
              <a:buNone/>
            </a:pPr>
            <a:r>
              <a:rPr lang="en-US" sz="2000" b="1" dirty="0">
                <a:solidFill>
                  <a:srgbClr val="0B1930"/>
                </a:solidFill>
                <a:latin typeface="Arial" pitchFamily="34" charset="0"/>
                <a:ea typeface="Arial" pitchFamily="34" charset="-122"/>
                <a:cs typeface="Arial" pitchFamily="34" charset="-120"/>
              </a:rPr>
              <a:t>Threat Actor &amp; Campaign</a:t>
            </a:r>
            <a:endParaRPr lang="en-US" sz="2000" dirty="0"/>
          </a:p>
        </p:txBody>
      </p:sp>
      <p:sp>
        <p:nvSpPr>
          <p:cNvPr id="9" name="Text 6"/>
          <p:cNvSpPr/>
          <p:nvPr/>
        </p:nvSpPr>
        <p:spPr>
          <a:xfrm>
            <a:off x="548640" y="960120"/>
            <a:ext cx="77724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Adversary Profile, Tradecraft, and Campaign Attribution</a:t>
            </a:r>
            <a:endParaRPr lang="en-US" sz="1000" dirty="0"/>
          </a:p>
        </p:txBody>
      </p:sp>
      <p:sp>
        <p:nvSpPr>
          <p:cNvPr id="10" name="Shape 7"/>
          <p:cNvSpPr/>
          <p:nvPr/>
        </p:nvSpPr>
        <p:spPr>
          <a:xfrm>
            <a:off x="548640" y="1325880"/>
            <a:ext cx="3931920" cy="3017520"/>
          </a:xfrm>
          <a:prstGeom prst="roundRect">
            <a:avLst>
              <a:gd name="adj" fmla="val 1818"/>
            </a:avLst>
          </a:prstGeom>
          <a:solidFill>
            <a:srgbClr val="FFFFFF"/>
          </a:solidFill>
          <a:ln w="9525">
            <a:solidFill>
              <a:srgbClr val="CBD5E1"/>
            </a:solidFill>
            <a:prstDash val="solid"/>
          </a:ln>
        </p:spPr>
      </p:sp>
      <p:sp>
        <p:nvSpPr>
          <p:cNvPr id="11" name="Text 8"/>
          <p:cNvSpPr/>
          <p:nvPr/>
        </p:nvSpPr>
        <p:spPr>
          <a:xfrm>
            <a:off x="731520" y="1463040"/>
            <a:ext cx="3566160" cy="228600"/>
          </a:xfrm>
          <a:prstGeom prst="rect">
            <a:avLst/>
          </a:prstGeom>
          <a:noFill/>
          <a:ln/>
        </p:spPr>
        <p:txBody>
          <a:bodyPr wrap="square" rtlCol="0" anchor="ctr"/>
          <a:lstStyle/>
          <a:p>
            <a:pPr indent="0" marL="0">
              <a:buNone/>
            </a:pPr>
            <a:r>
              <a:rPr lang="en-US" sz="800" b="1" dirty="0">
                <a:solidFill>
                  <a:srgbClr val="1E3A8A"/>
                </a:solidFill>
                <a:latin typeface="Arial" pitchFamily="34" charset="0"/>
                <a:ea typeface="Arial" pitchFamily="34" charset="-122"/>
                <a:cs typeface="Arial" pitchFamily="34" charset="-120"/>
              </a:rPr>
              <a:t>ADVERSARY DESIGNATION</a:t>
            </a:r>
            <a:endParaRPr lang="en-US" sz="800" dirty="0"/>
          </a:p>
        </p:txBody>
      </p:sp>
      <p:sp>
        <p:nvSpPr>
          <p:cNvPr id="12" name="Text 9"/>
          <p:cNvSpPr/>
          <p:nvPr/>
        </p:nvSpPr>
        <p:spPr>
          <a:xfrm>
            <a:off x="731520" y="1691640"/>
            <a:ext cx="3566160" cy="365760"/>
          </a:xfrm>
          <a:prstGeom prst="rect">
            <a:avLst/>
          </a:prstGeom>
          <a:noFill/>
          <a:ln/>
        </p:spPr>
        <p:txBody>
          <a:bodyPr wrap="square" rtlCol="0" anchor="ctr"/>
          <a:lstStyle/>
          <a:p>
            <a:pPr indent="0" marL="0">
              <a:buNone/>
            </a:pPr>
            <a:r>
              <a:rPr lang="en-US" sz="1600" b="1" dirty="0">
                <a:solidFill>
                  <a:srgbClr val="0B1930"/>
                </a:solidFill>
                <a:latin typeface="Arial" pitchFamily="34" charset="0"/>
                <a:ea typeface="Arial" pitchFamily="34" charset="-122"/>
                <a:cs typeface="Arial" pitchFamily="34" charset="-120"/>
              </a:rPr>
              <a:t>Obsidian Kite</a:t>
            </a:r>
            <a:endParaRPr lang="en-US" sz="1600" dirty="0"/>
          </a:p>
        </p:txBody>
      </p:sp>
      <p:sp>
        <p:nvSpPr>
          <p:cNvPr id="13" name="Text 10"/>
          <p:cNvSpPr/>
          <p:nvPr/>
        </p:nvSpPr>
        <p:spPr>
          <a:xfrm>
            <a:off x="731520" y="2148840"/>
            <a:ext cx="3566160" cy="182880"/>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Known Aliases</a:t>
            </a:r>
            <a:endParaRPr lang="en-US" sz="800" dirty="0"/>
          </a:p>
        </p:txBody>
      </p:sp>
      <p:sp>
        <p:nvSpPr>
          <p:cNvPr id="14" name="Text 11"/>
          <p:cNvSpPr/>
          <p:nvPr/>
        </p:nvSpPr>
        <p:spPr>
          <a:xfrm>
            <a:off x="731520" y="2331720"/>
            <a:ext cx="3566160" cy="274320"/>
          </a:xfrm>
          <a:prstGeom prst="rect">
            <a:avLst/>
          </a:prstGeom>
          <a:noFill/>
          <a:ln/>
        </p:spPr>
        <p:txBody>
          <a:bodyPr wrap="square" rtlCol="0" anchor="ctr"/>
          <a:lstStyle/>
          <a:p>
            <a:pPr indent="0" marL="0">
              <a:buNone/>
            </a:pPr>
            <a:r>
              <a:rPr lang="en-US" sz="950" b="1" dirty="0">
                <a:solidFill>
                  <a:srgbClr val="1E293B"/>
                </a:solidFill>
                <a:latin typeface="Arial" pitchFamily="34" charset="0"/>
                <a:ea typeface="Arial" pitchFamily="34" charset="-122"/>
                <a:cs typeface="Arial" pitchFamily="34" charset="-120"/>
              </a:rPr>
              <a:t>OK-17, KiteGroup</a:t>
            </a:r>
            <a:endParaRPr lang="en-US" sz="950" dirty="0"/>
          </a:p>
        </p:txBody>
      </p:sp>
      <p:sp>
        <p:nvSpPr>
          <p:cNvPr id="15" name="Text 12"/>
          <p:cNvSpPr/>
          <p:nvPr/>
        </p:nvSpPr>
        <p:spPr>
          <a:xfrm>
            <a:off x="731520" y="2651760"/>
            <a:ext cx="3566160" cy="182880"/>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Campaign</a:t>
            </a:r>
            <a:endParaRPr lang="en-US" sz="800" dirty="0"/>
          </a:p>
        </p:txBody>
      </p:sp>
      <p:sp>
        <p:nvSpPr>
          <p:cNvPr id="16" name="Text 13"/>
          <p:cNvSpPr/>
          <p:nvPr/>
        </p:nvSpPr>
        <p:spPr>
          <a:xfrm>
            <a:off x="731520" y="2834640"/>
            <a:ext cx="3566160" cy="274320"/>
          </a:xfrm>
          <a:prstGeom prst="rect">
            <a:avLst/>
          </a:prstGeom>
          <a:noFill/>
          <a:ln/>
        </p:spPr>
        <p:txBody>
          <a:bodyPr wrap="square" rtlCol="0" anchor="ctr"/>
          <a:lstStyle/>
          <a:p>
            <a:pPr indent="0" marL="0">
              <a:buNone/>
            </a:pPr>
            <a:r>
              <a:rPr lang="en-US" sz="950" b="1" dirty="0">
                <a:solidFill>
                  <a:srgbClr val="1E293B"/>
                </a:solidFill>
                <a:latin typeface="Arial" pitchFamily="34" charset="0"/>
                <a:ea typeface="Arial" pitchFamily="34" charset="-122"/>
                <a:cs typeface="Arial" pitchFamily="34" charset="-120"/>
              </a:rPr>
              <a:t>Operation NightFalcon</a:t>
            </a:r>
            <a:endParaRPr lang="en-US" sz="950" dirty="0"/>
          </a:p>
        </p:txBody>
      </p:sp>
      <p:sp>
        <p:nvSpPr>
          <p:cNvPr id="17" name="Text 14"/>
          <p:cNvSpPr/>
          <p:nvPr/>
        </p:nvSpPr>
        <p:spPr>
          <a:xfrm>
            <a:off x="731520" y="3154680"/>
            <a:ext cx="3566160" cy="182880"/>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Motivation</a:t>
            </a:r>
            <a:endParaRPr lang="en-US" sz="800" dirty="0"/>
          </a:p>
        </p:txBody>
      </p:sp>
      <p:sp>
        <p:nvSpPr>
          <p:cNvPr id="18" name="Text 15"/>
          <p:cNvSpPr/>
          <p:nvPr/>
        </p:nvSpPr>
        <p:spPr>
          <a:xfrm>
            <a:off x="731520" y="3337560"/>
            <a:ext cx="3566160" cy="274320"/>
          </a:xfrm>
          <a:prstGeom prst="rect">
            <a:avLst/>
          </a:prstGeom>
          <a:noFill/>
          <a:ln/>
        </p:spPr>
        <p:txBody>
          <a:bodyPr wrap="square" rtlCol="0" anchor="ctr"/>
          <a:lstStyle/>
          <a:p>
            <a:pPr indent="0" marL="0">
              <a:buNone/>
            </a:pPr>
            <a:r>
              <a:rPr lang="en-US" sz="950" b="1" dirty="0">
                <a:solidFill>
                  <a:srgbClr val="1E293B"/>
                </a:solidFill>
                <a:latin typeface="Arial" pitchFamily="34" charset="0"/>
                <a:ea typeface="Arial" pitchFamily="34" charset="-122"/>
                <a:cs typeface="Arial" pitchFamily="34" charset="-120"/>
              </a:rPr>
              <a:t>Suspected intelligence collection</a:t>
            </a:r>
            <a:endParaRPr lang="en-US" sz="950" dirty="0"/>
          </a:p>
        </p:txBody>
      </p:sp>
      <p:sp>
        <p:nvSpPr>
          <p:cNvPr id="19" name="Text 16"/>
          <p:cNvSpPr/>
          <p:nvPr/>
        </p:nvSpPr>
        <p:spPr>
          <a:xfrm>
            <a:off x="731520" y="3657600"/>
            <a:ext cx="3566160" cy="182880"/>
          </a:xfrm>
          <a:prstGeom prst="rect">
            <a:avLst/>
          </a:prstGeom>
          <a:noFill/>
          <a:ln/>
        </p:spPr>
        <p:txBody>
          <a:bodyPr wrap="square" rtlCol="0" anchor="ctr"/>
          <a:lstStyle/>
          <a:p>
            <a:pPr indent="0" marL="0">
              <a:buNone/>
            </a:pPr>
            <a:r>
              <a:rPr lang="en-US" sz="800" b="1" dirty="0">
                <a:solidFill>
                  <a:srgbClr val="64748B"/>
                </a:solidFill>
                <a:latin typeface="Arial" pitchFamily="34" charset="0"/>
                <a:ea typeface="Arial" pitchFamily="34" charset="-122"/>
                <a:cs typeface="Arial" pitchFamily="34" charset="-120"/>
              </a:rPr>
              <a:t>Attribution Confidence</a:t>
            </a:r>
            <a:endParaRPr lang="en-US" sz="800" dirty="0"/>
          </a:p>
        </p:txBody>
      </p:sp>
      <p:sp>
        <p:nvSpPr>
          <p:cNvPr id="20" name="Text 17"/>
          <p:cNvSpPr/>
          <p:nvPr/>
        </p:nvSpPr>
        <p:spPr>
          <a:xfrm>
            <a:off x="731520" y="3840480"/>
            <a:ext cx="3566160" cy="274320"/>
          </a:xfrm>
          <a:prstGeom prst="rect">
            <a:avLst/>
          </a:prstGeom>
          <a:noFill/>
          <a:ln/>
        </p:spPr>
        <p:txBody>
          <a:bodyPr wrap="square" rtlCol="0" anchor="ctr"/>
          <a:lstStyle/>
          <a:p>
            <a:pPr indent="0" marL="0">
              <a:buNone/>
            </a:pPr>
            <a:r>
              <a:rPr lang="en-US" sz="950" b="1" dirty="0">
                <a:solidFill>
                  <a:srgbClr val="1E293B"/>
                </a:solidFill>
                <a:latin typeface="Arial" pitchFamily="34" charset="0"/>
                <a:ea typeface="Arial" pitchFamily="34" charset="-122"/>
                <a:cs typeface="Arial" pitchFamily="34" charset="-120"/>
              </a:rPr>
              <a:t>Medium Confidence</a:t>
            </a:r>
            <a:endParaRPr lang="en-US" sz="950" dirty="0"/>
          </a:p>
        </p:txBody>
      </p:sp>
      <p:sp>
        <p:nvSpPr>
          <p:cNvPr id="21" name="Shape 18"/>
          <p:cNvSpPr/>
          <p:nvPr/>
        </p:nvSpPr>
        <p:spPr>
          <a:xfrm>
            <a:off x="4663440" y="1325880"/>
            <a:ext cx="3931920" cy="1417320"/>
          </a:xfrm>
          <a:prstGeom prst="roundRect">
            <a:avLst>
              <a:gd name="adj" fmla="val 3871"/>
            </a:avLst>
          </a:prstGeom>
          <a:solidFill>
            <a:srgbClr val="FFFFFF"/>
          </a:solidFill>
          <a:ln w="9525">
            <a:solidFill>
              <a:srgbClr val="CBD5E1"/>
            </a:solidFill>
            <a:prstDash val="solid"/>
          </a:ln>
        </p:spPr>
      </p:sp>
      <p:sp>
        <p:nvSpPr>
          <p:cNvPr id="22" name="Text 19"/>
          <p:cNvSpPr/>
          <p:nvPr/>
        </p:nvSpPr>
        <p:spPr>
          <a:xfrm>
            <a:off x="4846320" y="1417320"/>
            <a:ext cx="3566160" cy="228600"/>
          </a:xfrm>
          <a:prstGeom prst="rect">
            <a:avLst/>
          </a:prstGeom>
          <a:noFill/>
          <a:ln/>
        </p:spPr>
        <p:txBody>
          <a:bodyPr wrap="square" rtlCol="0" anchor="ctr"/>
          <a:lstStyle/>
          <a:p>
            <a:pPr indent="0" marL="0">
              <a:buNone/>
            </a:pPr>
            <a:r>
              <a:rPr lang="en-US" sz="850" b="1" dirty="0">
                <a:solidFill>
                  <a:srgbClr val="0B1930"/>
                </a:solidFill>
                <a:latin typeface="Arial" pitchFamily="34" charset="0"/>
                <a:ea typeface="Arial" pitchFamily="34" charset="-122"/>
                <a:cs typeface="Arial" pitchFamily="34" charset="-120"/>
              </a:rPr>
              <a:t>TARGET PROFILE &amp; SECTOR EXPOSURE</a:t>
            </a:r>
            <a:endParaRPr lang="en-US" sz="850" dirty="0"/>
          </a:p>
        </p:txBody>
      </p:sp>
      <p:sp>
        <p:nvSpPr>
          <p:cNvPr id="23" name="Text 20"/>
          <p:cNvSpPr/>
          <p:nvPr/>
        </p:nvSpPr>
        <p:spPr>
          <a:xfrm>
            <a:off x="4846320" y="1664208"/>
            <a:ext cx="3566160" cy="22860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 Government &amp; Ministerial Agencies</a:t>
            </a:r>
            <a:endParaRPr lang="en-US" sz="850" dirty="0"/>
          </a:p>
        </p:txBody>
      </p:sp>
      <p:sp>
        <p:nvSpPr>
          <p:cNvPr id="24" name="Text 21"/>
          <p:cNvSpPr/>
          <p:nvPr/>
        </p:nvSpPr>
        <p:spPr>
          <a:xfrm>
            <a:off x="4846320" y="1920240"/>
            <a:ext cx="3566160" cy="22860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 Defence Industrial Base Contractors</a:t>
            </a:r>
            <a:endParaRPr lang="en-US" sz="850" dirty="0"/>
          </a:p>
        </p:txBody>
      </p:sp>
      <p:sp>
        <p:nvSpPr>
          <p:cNvPr id="25" name="Text 22"/>
          <p:cNvSpPr/>
          <p:nvPr/>
        </p:nvSpPr>
        <p:spPr>
          <a:xfrm>
            <a:off x="4846320" y="2176272"/>
            <a:ext cx="3566160" cy="22860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 Critical Infrastructure Providers</a:t>
            </a:r>
            <a:endParaRPr lang="en-US" sz="850" dirty="0"/>
          </a:p>
        </p:txBody>
      </p:sp>
      <p:sp>
        <p:nvSpPr>
          <p:cNvPr id="26" name="Text 23"/>
          <p:cNvSpPr/>
          <p:nvPr/>
        </p:nvSpPr>
        <p:spPr>
          <a:xfrm>
            <a:off x="4846320" y="2432304"/>
            <a:ext cx="3566160" cy="22860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 Telecommunications &amp; Research Institutions</a:t>
            </a:r>
            <a:endParaRPr lang="en-US" sz="850" dirty="0"/>
          </a:p>
        </p:txBody>
      </p:sp>
      <p:sp>
        <p:nvSpPr>
          <p:cNvPr id="27" name="Shape 24"/>
          <p:cNvSpPr/>
          <p:nvPr/>
        </p:nvSpPr>
        <p:spPr>
          <a:xfrm>
            <a:off x="4663440" y="2880360"/>
            <a:ext cx="3931920" cy="1463040"/>
          </a:xfrm>
          <a:prstGeom prst="roundRect">
            <a:avLst>
              <a:gd name="adj" fmla="val 3750"/>
            </a:avLst>
          </a:prstGeom>
          <a:solidFill>
            <a:srgbClr val="FFFFFF"/>
          </a:solidFill>
          <a:ln w="9525">
            <a:solidFill>
              <a:srgbClr val="CBD5E1"/>
            </a:solidFill>
            <a:prstDash val="solid"/>
          </a:ln>
        </p:spPr>
      </p:sp>
      <p:sp>
        <p:nvSpPr>
          <p:cNvPr id="28" name="Text 25"/>
          <p:cNvSpPr/>
          <p:nvPr/>
        </p:nvSpPr>
        <p:spPr>
          <a:xfrm>
            <a:off x="4846320" y="2971800"/>
            <a:ext cx="3566160" cy="228600"/>
          </a:xfrm>
          <a:prstGeom prst="rect">
            <a:avLst/>
          </a:prstGeom>
          <a:noFill/>
          <a:ln/>
        </p:spPr>
        <p:txBody>
          <a:bodyPr wrap="square" rtlCol="0" anchor="ctr"/>
          <a:lstStyle/>
          <a:p>
            <a:pPr indent="0" marL="0">
              <a:buNone/>
            </a:pPr>
            <a:r>
              <a:rPr lang="en-US" sz="850" b="1" dirty="0">
                <a:solidFill>
                  <a:srgbClr val="0B1930"/>
                </a:solidFill>
                <a:latin typeface="Arial" pitchFamily="34" charset="0"/>
                <a:ea typeface="Arial" pitchFamily="34" charset="-122"/>
                <a:cs typeface="Arial" pitchFamily="34" charset="-120"/>
              </a:rPr>
              <a:t>KEY ADVERSARY TECHNIQUES (TTPs)</a:t>
            </a:r>
            <a:endParaRPr lang="en-US" sz="850" dirty="0"/>
          </a:p>
        </p:txBody>
      </p:sp>
      <p:sp>
        <p:nvSpPr>
          <p:cNvPr id="29" name="Text 26"/>
          <p:cNvSpPr/>
          <p:nvPr/>
        </p:nvSpPr>
        <p:spPr>
          <a:xfrm>
            <a:off x="4846320" y="3218688"/>
            <a:ext cx="3566160" cy="22860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 Zero-day edge gateway weaponization</a:t>
            </a:r>
            <a:endParaRPr lang="en-US" sz="850" dirty="0"/>
          </a:p>
        </p:txBody>
      </p:sp>
      <p:sp>
        <p:nvSpPr>
          <p:cNvPr id="30" name="Text 27"/>
          <p:cNvSpPr/>
          <p:nvPr/>
        </p:nvSpPr>
        <p:spPr>
          <a:xfrm>
            <a:off x="4846320" y="3474720"/>
            <a:ext cx="3566160" cy="22860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 DLL side-loading via ogupdate.dll</a:t>
            </a:r>
            <a:endParaRPr lang="en-US" sz="850" dirty="0"/>
          </a:p>
        </p:txBody>
      </p:sp>
      <p:sp>
        <p:nvSpPr>
          <p:cNvPr id="31" name="Text 28"/>
          <p:cNvSpPr/>
          <p:nvPr/>
        </p:nvSpPr>
        <p:spPr>
          <a:xfrm>
            <a:off x="4846320" y="3730752"/>
            <a:ext cx="3566160" cy="22860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 Masquerading as vendor update services</a:t>
            </a:r>
            <a:endParaRPr lang="en-US" sz="850" dirty="0"/>
          </a:p>
        </p:txBody>
      </p:sp>
      <p:sp>
        <p:nvSpPr>
          <p:cNvPr id="32" name="Text 29"/>
          <p:cNvSpPr/>
          <p:nvPr/>
        </p:nvSpPr>
        <p:spPr>
          <a:xfrm>
            <a:off x="4846320" y="3986784"/>
            <a:ext cx="3566160" cy="228600"/>
          </a:xfrm>
          <a:prstGeom prst="rect">
            <a:avLst/>
          </a:prstGeom>
          <a:noFill/>
          <a:ln/>
        </p:spPr>
        <p:txBody>
          <a:bodyPr wrap="square" rtlCol="0" anchor="ctr"/>
          <a:lstStyle/>
          <a:p>
            <a:pPr indent="0" marL="0">
              <a:buNone/>
            </a:pPr>
            <a:r>
              <a:rPr lang="en-US" sz="850" dirty="0">
                <a:solidFill>
                  <a:srgbClr val="1E293B"/>
                </a:solidFill>
                <a:latin typeface="Arial" pitchFamily="34" charset="0"/>
                <a:ea typeface="Arial" pitchFamily="34" charset="-122"/>
                <a:cs typeface="Arial" pitchFamily="34" charset="-120"/>
              </a:rPr>
              <a:t>• Encrypted TLS beaconing on port 443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Shape 0"/>
          <p:cNvSpPr/>
          <p:nvPr/>
        </p:nvSpPr>
        <p:spPr>
          <a:xfrm>
            <a:off x="548640" y="4572000"/>
            <a:ext cx="8046720" cy="18288"/>
          </a:xfrm>
          <a:prstGeom prst="rect">
            <a:avLst/>
          </a:prstGeom>
          <a:solidFill>
            <a:srgbClr val="CBD5E1"/>
          </a:solidFill>
          <a:ln w="12700">
            <a:solidFill>
              <a:srgbClr val="CBD5E1"/>
            </a:solidFill>
            <a:prstDash val="solid"/>
          </a:ln>
        </p:spPr>
      </p:sp>
      <p:sp>
        <p:nvSpPr>
          <p:cNvPr id="4" name="Text 1"/>
          <p:cNvSpPr/>
          <p:nvPr/>
        </p:nvSpPr>
        <p:spPr>
          <a:xfrm>
            <a:off x="548640" y="4663440"/>
            <a:ext cx="5486400" cy="27432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TRANSFORMAI GROUNDED INTELLIGENCE ENGINE  |  ADVISORY ID: TAI-ADV-2026-88421</a:t>
            </a:r>
            <a:endParaRPr lang="en-US" sz="800" dirty="0"/>
          </a:p>
        </p:txBody>
      </p:sp>
      <p:sp>
        <p:nvSpPr>
          <p:cNvPr id="5" name="Text 2"/>
          <p:cNvSpPr/>
          <p:nvPr/>
        </p:nvSpPr>
        <p:spPr>
          <a:xfrm>
            <a:off x="6035040" y="4663440"/>
            <a:ext cx="2560320" cy="274320"/>
          </a:xfrm>
          <a:prstGeom prst="rect">
            <a:avLst/>
          </a:prstGeom>
          <a:noFill/>
          <a:ln/>
        </p:spPr>
        <p:txBody>
          <a:bodyPr wrap="square" rtlCol="0" anchor="ctr"/>
          <a:lstStyle/>
          <a:p>
            <a:pPr algn="r" indent="0" marL="0">
              <a:buNone/>
            </a:pPr>
            <a:r>
              <a:rPr lang="en-US" sz="800" b="1" dirty="0">
                <a:solidFill>
                  <a:srgbClr val="64748B"/>
                </a:solidFill>
                <a:latin typeface="Arial" pitchFamily="34" charset="0"/>
                <a:ea typeface="Arial" pitchFamily="34" charset="-122"/>
                <a:cs typeface="Arial" pitchFamily="34" charset="-120"/>
              </a:rPr>
              <a:t>TLP:AMBER+STRICT  |  SLIDE 7 OF 11</a:t>
            </a:r>
            <a:endParaRPr lang="en-US" sz="800" dirty="0"/>
          </a:p>
        </p:txBody>
      </p:sp>
      <p:sp>
        <p:nvSpPr>
          <p:cNvPr id="6" name="Text 3"/>
          <p:cNvSpPr/>
          <p:nvPr/>
        </p:nvSpPr>
        <p:spPr>
          <a:xfrm>
            <a:off x="5943600" y="320040"/>
            <a:ext cx="2651760" cy="256032"/>
          </a:xfrm>
          <a:prstGeom prst="rect">
            <a:avLst/>
          </a:prstGeom>
          <a:noFill/>
          <a:ln/>
        </p:spPr>
        <p:txBody>
          <a:bodyPr wrap="square" rtlCol="0" anchor="ctr"/>
          <a:lstStyle/>
          <a:p>
            <a:pPr algn="r" indent="0" marL="0">
              <a:buNone/>
            </a:pPr>
            <a:r>
              <a:rPr lang="en-US" sz="800" i="1" dirty="0">
                <a:solidFill>
                  <a:srgbClr val="64748B"/>
                </a:solidFill>
                <a:latin typeface="Arial" pitchFamily="34" charset="0"/>
                <a:ea typeface="Arial" pitchFamily="34" charset="-122"/>
                <a:cs typeface="Arial" pitchFamily="34" charset="-120"/>
              </a:rPr>
              <a:t>Source: TAI-ADV-2026-88421, Section 7</a:t>
            </a:r>
            <a:endParaRPr lang="en-US" sz="800" dirty="0"/>
          </a:p>
        </p:txBody>
      </p:sp>
      <p:sp>
        <p:nvSpPr>
          <p:cNvPr id="7" name="Text 4"/>
          <p:cNvSpPr/>
          <p:nvPr/>
        </p:nvSpPr>
        <p:spPr>
          <a:xfrm>
            <a:off x="548640" y="320040"/>
            <a:ext cx="4114800" cy="228600"/>
          </a:xfrm>
          <a:prstGeom prst="rect">
            <a:avLst/>
          </a:prstGeom>
          <a:noFill/>
          <a:ln/>
        </p:spPr>
        <p:txBody>
          <a:bodyPr wrap="square" rtlCol="0" anchor="ctr"/>
          <a:lstStyle/>
          <a:p>
            <a:pPr indent="0" marL="0">
              <a:buNone/>
            </a:pPr>
            <a:r>
              <a:rPr lang="en-US" sz="800" b="1" dirty="0">
                <a:solidFill>
                  <a:srgbClr val="1E3A8A"/>
                </a:solidFill>
                <a:latin typeface="Arial" pitchFamily="34" charset="0"/>
                <a:ea typeface="Arial" pitchFamily="34" charset="-122"/>
                <a:cs typeface="Arial" pitchFamily="34" charset="-120"/>
              </a:rPr>
              <a:t>TECHNICAL EVIDENCE</a:t>
            </a:r>
            <a:endParaRPr lang="en-US" sz="800" dirty="0"/>
          </a:p>
        </p:txBody>
      </p:sp>
      <p:sp>
        <p:nvSpPr>
          <p:cNvPr id="8" name="Text 5"/>
          <p:cNvSpPr/>
          <p:nvPr/>
        </p:nvSpPr>
        <p:spPr>
          <a:xfrm>
            <a:off x="548640" y="548640"/>
            <a:ext cx="7772400" cy="411480"/>
          </a:xfrm>
          <a:prstGeom prst="rect">
            <a:avLst/>
          </a:prstGeom>
          <a:noFill/>
          <a:ln/>
        </p:spPr>
        <p:txBody>
          <a:bodyPr wrap="square" rtlCol="0" anchor="ctr"/>
          <a:lstStyle/>
          <a:p>
            <a:pPr indent="0" marL="0">
              <a:buNone/>
            </a:pPr>
            <a:r>
              <a:rPr lang="en-US" sz="2000" b="1" dirty="0">
                <a:solidFill>
                  <a:srgbClr val="0B1930"/>
                </a:solidFill>
                <a:latin typeface="Arial" pitchFamily="34" charset="0"/>
                <a:ea typeface="Arial" pitchFamily="34" charset="-122"/>
                <a:cs typeface="Arial" pitchFamily="34" charset="-120"/>
              </a:rPr>
              <a:t>Indicators of Compromise</a:t>
            </a:r>
            <a:endParaRPr lang="en-US" sz="2000" dirty="0"/>
          </a:p>
        </p:txBody>
      </p:sp>
      <p:sp>
        <p:nvSpPr>
          <p:cNvPr id="9" name="Text 6"/>
          <p:cNvSpPr/>
          <p:nvPr/>
        </p:nvSpPr>
        <p:spPr>
          <a:xfrm>
            <a:off x="548640" y="960120"/>
            <a:ext cx="77724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Verified Network, Host, Domain, and Cryptographic Artifacts</a:t>
            </a:r>
            <a:endParaRPr lang="en-US" sz="1000" dirty="0"/>
          </a:p>
        </p:txBody>
      </p:sp>
      <p:sp>
        <p:nvSpPr>
          <p:cNvPr id="10" name="Shape 7"/>
          <p:cNvSpPr/>
          <p:nvPr/>
        </p:nvSpPr>
        <p:spPr>
          <a:xfrm>
            <a:off x="548640" y="1325880"/>
            <a:ext cx="3931920" cy="1463040"/>
          </a:xfrm>
          <a:prstGeom prst="roundRect">
            <a:avLst>
              <a:gd name="adj" fmla="val 3750"/>
            </a:avLst>
          </a:prstGeom>
          <a:solidFill>
            <a:srgbClr val="FFFFFF"/>
          </a:solidFill>
          <a:ln w="9525">
            <a:solidFill>
              <a:srgbClr val="CBD5E1"/>
            </a:solidFill>
            <a:prstDash val="solid"/>
          </a:ln>
        </p:spPr>
      </p:sp>
      <p:sp>
        <p:nvSpPr>
          <p:cNvPr id="11" name="Text 8"/>
          <p:cNvSpPr/>
          <p:nvPr/>
        </p:nvSpPr>
        <p:spPr>
          <a:xfrm>
            <a:off x="731520" y="1417320"/>
            <a:ext cx="3566160" cy="228600"/>
          </a:xfrm>
          <a:prstGeom prst="rect">
            <a:avLst/>
          </a:prstGeom>
          <a:noFill/>
          <a:ln/>
        </p:spPr>
        <p:txBody>
          <a:bodyPr wrap="square" rtlCol="0" anchor="ctr"/>
          <a:lstStyle/>
          <a:p>
            <a:pPr indent="0" marL="0">
              <a:buNone/>
            </a:pPr>
            <a:r>
              <a:rPr lang="en-US" sz="850" b="1" dirty="0">
                <a:solidFill>
                  <a:srgbClr val="1E3A8A"/>
                </a:solidFill>
                <a:latin typeface="Arial" pitchFamily="34" charset="0"/>
                <a:ea typeface="Arial" pitchFamily="34" charset="-122"/>
                <a:cs typeface="Arial" pitchFamily="34" charset="-120"/>
              </a:rPr>
              <a:t>IP ADDRESSES (C2 &amp; STAGING)</a:t>
            </a:r>
            <a:endParaRPr lang="en-US" sz="850" dirty="0"/>
          </a:p>
        </p:txBody>
      </p:sp>
      <p:sp>
        <p:nvSpPr>
          <p:cNvPr id="12" name="Text 9"/>
          <p:cNvSpPr/>
          <p:nvPr/>
        </p:nvSpPr>
        <p:spPr>
          <a:xfrm>
            <a:off x="731520" y="1664208"/>
            <a:ext cx="3566160" cy="32004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185.71.44.19 — Adversary Staging &amp; Payload Server</a:t>
            </a:r>
            <a:endParaRPr lang="en-US" sz="800" dirty="0"/>
          </a:p>
        </p:txBody>
      </p:sp>
      <p:sp>
        <p:nvSpPr>
          <p:cNvPr id="13" name="Text 10"/>
          <p:cNvSpPr/>
          <p:nvPr/>
        </p:nvSpPr>
        <p:spPr>
          <a:xfrm>
            <a:off x="731520" y="2011680"/>
            <a:ext cx="3566160" cy="32004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91.203.18.77 — Active Primary C2 Node</a:t>
            </a:r>
            <a:endParaRPr lang="en-US" sz="800" dirty="0"/>
          </a:p>
        </p:txBody>
      </p:sp>
      <p:sp>
        <p:nvSpPr>
          <p:cNvPr id="14" name="Text 11"/>
          <p:cNvSpPr/>
          <p:nvPr/>
        </p:nvSpPr>
        <p:spPr>
          <a:xfrm>
            <a:off x="731520" y="2359152"/>
            <a:ext cx="3566160" cy="32004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45.133.201.42 — Secondary Failover C2 Node</a:t>
            </a:r>
            <a:endParaRPr lang="en-US" sz="800" dirty="0"/>
          </a:p>
        </p:txBody>
      </p:sp>
      <p:sp>
        <p:nvSpPr>
          <p:cNvPr id="15" name="Shape 12"/>
          <p:cNvSpPr/>
          <p:nvPr/>
        </p:nvSpPr>
        <p:spPr>
          <a:xfrm>
            <a:off x="4663440" y="1325880"/>
            <a:ext cx="3931920" cy="1463040"/>
          </a:xfrm>
          <a:prstGeom prst="roundRect">
            <a:avLst>
              <a:gd name="adj" fmla="val 3750"/>
            </a:avLst>
          </a:prstGeom>
          <a:solidFill>
            <a:srgbClr val="FFFFFF"/>
          </a:solidFill>
          <a:ln w="9525">
            <a:solidFill>
              <a:srgbClr val="CBD5E1"/>
            </a:solidFill>
            <a:prstDash val="solid"/>
          </a:ln>
        </p:spPr>
      </p:sp>
      <p:sp>
        <p:nvSpPr>
          <p:cNvPr id="16" name="Text 13"/>
          <p:cNvSpPr/>
          <p:nvPr/>
        </p:nvSpPr>
        <p:spPr>
          <a:xfrm>
            <a:off x="4846320" y="1417320"/>
            <a:ext cx="3566160" cy="228600"/>
          </a:xfrm>
          <a:prstGeom prst="rect">
            <a:avLst/>
          </a:prstGeom>
          <a:noFill/>
          <a:ln/>
        </p:spPr>
        <p:txBody>
          <a:bodyPr wrap="square" rtlCol="0" anchor="ctr"/>
          <a:lstStyle/>
          <a:p>
            <a:pPr indent="0" marL="0">
              <a:buNone/>
            </a:pPr>
            <a:r>
              <a:rPr lang="en-US" sz="850" b="1" dirty="0">
                <a:solidFill>
                  <a:srgbClr val="1E3A8A"/>
                </a:solidFill>
                <a:latin typeface="Arial" pitchFamily="34" charset="0"/>
                <a:ea typeface="Arial" pitchFamily="34" charset="-122"/>
                <a:cs typeface="Arial" pitchFamily="34" charset="-120"/>
              </a:rPr>
              <a:t>DOMAINS &amp; URLS (EXACT DEFANGED)</a:t>
            </a:r>
            <a:endParaRPr lang="en-US" sz="850" dirty="0"/>
          </a:p>
        </p:txBody>
      </p:sp>
      <p:sp>
        <p:nvSpPr>
          <p:cNvPr id="17" name="Text 14"/>
          <p:cNvSpPr/>
          <p:nvPr/>
        </p:nvSpPr>
        <p:spPr>
          <a:xfrm>
            <a:off x="4846320" y="1664208"/>
            <a:ext cx="3566160" cy="36576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nightfalcon-control[.]example (Defanged C2 Infrastructure)</a:t>
            </a:r>
            <a:endParaRPr lang="en-US" sz="800" dirty="0"/>
          </a:p>
        </p:txBody>
      </p:sp>
      <p:sp>
        <p:nvSpPr>
          <p:cNvPr id="18" name="Text 15"/>
          <p:cNvSpPr/>
          <p:nvPr/>
        </p:nvSpPr>
        <p:spPr>
          <a:xfrm>
            <a:off x="4846320" y="2075688"/>
            <a:ext cx="3566160" cy="36576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 og-update[.]example (Defanged False Staging Domain)</a:t>
            </a:r>
            <a:endParaRPr lang="en-US" sz="800" dirty="0"/>
          </a:p>
        </p:txBody>
      </p:sp>
      <p:sp>
        <p:nvSpPr>
          <p:cNvPr id="19" name="Shape 16"/>
          <p:cNvSpPr/>
          <p:nvPr/>
        </p:nvSpPr>
        <p:spPr>
          <a:xfrm>
            <a:off x="548640" y="2880360"/>
            <a:ext cx="3931920" cy="1508760"/>
          </a:xfrm>
          <a:prstGeom prst="roundRect">
            <a:avLst>
              <a:gd name="adj" fmla="val 3636"/>
            </a:avLst>
          </a:prstGeom>
          <a:solidFill>
            <a:srgbClr val="FFFFFF"/>
          </a:solidFill>
          <a:ln w="9525">
            <a:solidFill>
              <a:srgbClr val="CBD5E1"/>
            </a:solidFill>
            <a:prstDash val="solid"/>
          </a:ln>
        </p:spPr>
      </p:sp>
      <p:sp>
        <p:nvSpPr>
          <p:cNvPr id="20" name="Text 17"/>
          <p:cNvSpPr/>
          <p:nvPr/>
        </p:nvSpPr>
        <p:spPr>
          <a:xfrm>
            <a:off x="731520" y="2971800"/>
            <a:ext cx="3566160" cy="228600"/>
          </a:xfrm>
          <a:prstGeom prst="rect">
            <a:avLst/>
          </a:prstGeom>
          <a:noFill/>
          <a:ln/>
        </p:spPr>
        <p:txBody>
          <a:bodyPr wrap="square" rtlCol="0" anchor="ctr"/>
          <a:lstStyle/>
          <a:p>
            <a:pPr indent="0" marL="0">
              <a:buNone/>
            </a:pPr>
            <a:r>
              <a:rPr lang="en-US" sz="850" b="1" dirty="0">
                <a:solidFill>
                  <a:srgbClr val="1E3A8A"/>
                </a:solidFill>
                <a:latin typeface="Arial" pitchFamily="34" charset="0"/>
                <a:ea typeface="Arial" pitchFamily="34" charset="-122"/>
                <a:cs typeface="Arial" pitchFamily="34" charset="-120"/>
              </a:rPr>
              <a:t>FILE ARTIFACTS &amp; SHA-256 HASHES</a:t>
            </a:r>
            <a:endParaRPr lang="en-US" sz="850" dirty="0"/>
          </a:p>
        </p:txBody>
      </p:sp>
      <p:sp>
        <p:nvSpPr>
          <p:cNvPr id="21" name="Text 18"/>
          <p:cNvSpPr/>
          <p:nvPr/>
        </p:nvSpPr>
        <p:spPr>
          <a:xfrm>
            <a:off x="731520" y="3218688"/>
            <a:ext cx="3566160" cy="182880"/>
          </a:xfrm>
          <a:prstGeom prst="rect">
            <a:avLst/>
          </a:prstGeom>
          <a:noFill/>
          <a:ln/>
        </p:spPr>
        <p:txBody>
          <a:bodyPr wrap="square" rtlCol="0" anchor="ctr"/>
          <a:lstStyle/>
          <a:p>
            <a:pPr indent="0" marL="0">
              <a:buNone/>
            </a:pPr>
            <a:r>
              <a:rPr lang="en-US" sz="800" b="1" dirty="0">
                <a:solidFill>
                  <a:srgbClr val="0B1930"/>
                </a:solidFill>
                <a:latin typeface="Arial" pitchFamily="34" charset="0"/>
                <a:ea typeface="Arial" pitchFamily="34" charset="-122"/>
                <a:cs typeface="Arial" pitchFamily="34" charset="-120"/>
              </a:rPr>
              <a:t>• nfsvc.exe (Executable):</a:t>
            </a:r>
            <a:endParaRPr lang="en-US" sz="800" dirty="0"/>
          </a:p>
        </p:txBody>
      </p:sp>
      <p:sp>
        <p:nvSpPr>
          <p:cNvPr id="22" name="Text 19"/>
          <p:cNvSpPr/>
          <p:nvPr/>
        </p:nvSpPr>
        <p:spPr>
          <a:xfrm>
            <a:off x="731520" y="3401568"/>
            <a:ext cx="3566160" cy="320040"/>
          </a:xfrm>
          <a:prstGeom prst="rect">
            <a:avLst/>
          </a:prstGeom>
          <a:noFill/>
          <a:ln/>
        </p:spPr>
        <p:txBody>
          <a:bodyPr wrap="square" rtlCol="0" anchor="ctr"/>
          <a:lstStyle/>
          <a:p>
            <a:pPr indent="0" marL="0">
              <a:buNone/>
            </a:pPr>
            <a:r>
              <a:rPr lang="en-US" sz="680" dirty="0">
                <a:solidFill>
                  <a:srgbClr val="1E293B"/>
                </a:solidFill>
                <a:latin typeface="Courier New" pitchFamily="34" charset="0"/>
                <a:ea typeface="Courier New" pitchFamily="34" charset="-122"/>
                <a:cs typeface="Courier New" pitchFamily="34" charset="-120"/>
              </a:rPr>
              <a:t>  SHA-256: e3b0c44298fc1c149afbf4c8996fb92427ae41e4649b934ca495991b7852b855</a:t>
            </a:r>
            <a:endParaRPr lang="en-US" sz="680" dirty="0"/>
          </a:p>
        </p:txBody>
      </p:sp>
      <p:sp>
        <p:nvSpPr>
          <p:cNvPr id="23" name="Text 20"/>
          <p:cNvSpPr/>
          <p:nvPr/>
        </p:nvSpPr>
        <p:spPr>
          <a:xfrm>
            <a:off x="731520" y="3767328"/>
            <a:ext cx="3566160" cy="182880"/>
          </a:xfrm>
          <a:prstGeom prst="rect">
            <a:avLst/>
          </a:prstGeom>
          <a:noFill/>
          <a:ln/>
        </p:spPr>
        <p:txBody>
          <a:bodyPr wrap="square" rtlCol="0" anchor="ctr"/>
          <a:lstStyle/>
          <a:p>
            <a:pPr indent="0" marL="0">
              <a:buNone/>
            </a:pPr>
            <a:r>
              <a:rPr lang="en-US" sz="800" b="1" dirty="0">
                <a:solidFill>
                  <a:srgbClr val="0B1930"/>
                </a:solidFill>
                <a:latin typeface="Arial" pitchFamily="34" charset="0"/>
                <a:ea typeface="Arial" pitchFamily="34" charset="-122"/>
                <a:cs typeface="Arial" pitchFamily="34" charset="-120"/>
              </a:rPr>
              <a:t>• ogupdate.dll (Dynamic Link Library):</a:t>
            </a:r>
            <a:endParaRPr lang="en-US" sz="800" dirty="0"/>
          </a:p>
        </p:txBody>
      </p:sp>
      <p:sp>
        <p:nvSpPr>
          <p:cNvPr id="24" name="Text 21"/>
          <p:cNvSpPr/>
          <p:nvPr/>
        </p:nvSpPr>
        <p:spPr>
          <a:xfrm>
            <a:off x="731520" y="3950208"/>
            <a:ext cx="3566160" cy="320040"/>
          </a:xfrm>
          <a:prstGeom prst="rect">
            <a:avLst/>
          </a:prstGeom>
          <a:noFill/>
          <a:ln/>
        </p:spPr>
        <p:txBody>
          <a:bodyPr wrap="square" rtlCol="0" anchor="ctr"/>
          <a:lstStyle/>
          <a:p>
            <a:pPr indent="0" marL="0">
              <a:buNone/>
            </a:pPr>
            <a:r>
              <a:rPr lang="en-US" sz="680" dirty="0">
                <a:solidFill>
                  <a:srgbClr val="1E293B"/>
                </a:solidFill>
                <a:latin typeface="Courier New" pitchFamily="34" charset="0"/>
                <a:ea typeface="Courier New" pitchFamily="34" charset="-122"/>
                <a:cs typeface="Courier New" pitchFamily="34" charset="-120"/>
              </a:rPr>
              <a:t>  SHA-256: a1b2c3d4e5f67890123456789abcdef0123456789abcdef0123456789abcdef0</a:t>
            </a:r>
            <a:endParaRPr lang="en-US" sz="680" dirty="0"/>
          </a:p>
        </p:txBody>
      </p:sp>
      <p:sp>
        <p:nvSpPr>
          <p:cNvPr id="25" name="Shape 22"/>
          <p:cNvSpPr/>
          <p:nvPr/>
        </p:nvSpPr>
        <p:spPr>
          <a:xfrm>
            <a:off x="4663440" y="2880360"/>
            <a:ext cx="3931920" cy="1508760"/>
          </a:xfrm>
          <a:prstGeom prst="roundRect">
            <a:avLst>
              <a:gd name="adj" fmla="val 3636"/>
            </a:avLst>
          </a:prstGeom>
          <a:solidFill>
            <a:srgbClr val="FFFFFF"/>
          </a:solidFill>
          <a:ln w="9525">
            <a:solidFill>
              <a:srgbClr val="CBD5E1"/>
            </a:solidFill>
            <a:prstDash val="solid"/>
          </a:ln>
        </p:spPr>
      </p:sp>
      <p:sp>
        <p:nvSpPr>
          <p:cNvPr id="26" name="Text 23"/>
          <p:cNvSpPr/>
          <p:nvPr/>
        </p:nvSpPr>
        <p:spPr>
          <a:xfrm>
            <a:off x="4846320" y="2971800"/>
            <a:ext cx="3566160" cy="228600"/>
          </a:xfrm>
          <a:prstGeom prst="rect">
            <a:avLst/>
          </a:prstGeom>
          <a:noFill/>
          <a:ln/>
        </p:spPr>
        <p:txBody>
          <a:bodyPr wrap="square" rtlCol="0" anchor="ctr"/>
          <a:lstStyle/>
          <a:p>
            <a:pPr indent="0" marL="0">
              <a:buNone/>
            </a:pPr>
            <a:r>
              <a:rPr lang="en-US" sz="850" b="1" dirty="0">
                <a:solidFill>
                  <a:srgbClr val="1E3A8A"/>
                </a:solidFill>
                <a:latin typeface="Arial" pitchFamily="34" charset="0"/>
                <a:ea typeface="Arial" pitchFamily="34" charset="-122"/>
                <a:cs typeface="Arial" pitchFamily="34" charset="-120"/>
              </a:rPr>
              <a:t>PERSISTENCE &amp; SYSTEM ARTIFACTS</a:t>
            </a:r>
            <a:endParaRPr lang="en-US" sz="850" dirty="0"/>
          </a:p>
        </p:txBody>
      </p:sp>
      <p:sp>
        <p:nvSpPr>
          <p:cNvPr id="27" name="Text 24"/>
          <p:cNvSpPr/>
          <p:nvPr/>
        </p:nvSpPr>
        <p:spPr>
          <a:xfrm>
            <a:off x="4846320" y="3218688"/>
            <a:ext cx="3566160" cy="182880"/>
          </a:xfrm>
          <a:prstGeom prst="rect">
            <a:avLst/>
          </a:prstGeom>
          <a:noFill/>
          <a:ln/>
        </p:spPr>
        <p:txBody>
          <a:bodyPr wrap="square" rtlCol="0" anchor="ctr"/>
          <a:lstStyle/>
          <a:p>
            <a:pPr indent="0" marL="0">
              <a:buNone/>
            </a:pPr>
            <a:r>
              <a:rPr lang="en-US" sz="800" b="1" dirty="0">
                <a:solidFill>
                  <a:srgbClr val="0B1930"/>
                </a:solidFill>
                <a:latin typeface="Arial" pitchFamily="34" charset="0"/>
                <a:ea typeface="Arial" pitchFamily="34" charset="-122"/>
                <a:cs typeface="Arial" pitchFamily="34" charset="-120"/>
              </a:rPr>
              <a:t>• OGUpdateService (Windows Service):</a:t>
            </a:r>
            <a:endParaRPr lang="en-US" sz="800" dirty="0"/>
          </a:p>
        </p:txBody>
      </p:sp>
      <p:sp>
        <p:nvSpPr>
          <p:cNvPr id="28" name="Text 25"/>
          <p:cNvSpPr/>
          <p:nvPr/>
        </p:nvSpPr>
        <p:spPr>
          <a:xfrm>
            <a:off x="4846320" y="3401568"/>
            <a:ext cx="3566160" cy="320040"/>
          </a:xfrm>
          <a:prstGeom prst="rect">
            <a:avLst/>
          </a:prstGeom>
          <a:noFill/>
          <a:ln/>
        </p:spPr>
        <p:txBody>
          <a:bodyPr wrap="square" rtlCol="0" anchor="ctr"/>
          <a:lstStyle/>
          <a:p>
            <a:pPr indent="0" marL="0">
              <a:buNone/>
            </a:pPr>
            <a:r>
              <a:rPr lang="en-US" sz="780" dirty="0">
                <a:solidFill>
                  <a:srgbClr val="1E293B"/>
                </a:solidFill>
                <a:latin typeface="Arial" pitchFamily="34" charset="0"/>
                <a:ea typeface="Arial" pitchFamily="34" charset="-122"/>
                <a:cs typeface="Arial" pitchFamily="34" charset="-120"/>
              </a:rPr>
              <a:t>  Rogue Service Masquerading as OrionGate Helper</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Shape 0"/>
          <p:cNvSpPr/>
          <p:nvPr/>
        </p:nvSpPr>
        <p:spPr>
          <a:xfrm>
            <a:off x="548640" y="4572000"/>
            <a:ext cx="8046720" cy="18288"/>
          </a:xfrm>
          <a:prstGeom prst="rect">
            <a:avLst/>
          </a:prstGeom>
          <a:solidFill>
            <a:srgbClr val="CBD5E1"/>
          </a:solidFill>
          <a:ln w="12700">
            <a:solidFill>
              <a:srgbClr val="CBD5E1"/>
            </a:solidFill>
            <a:prstDash val="solid"/>
          </a:ln>
        </p:spPr>
      </p:sp>
      <p:sp>
        <p:nvSpPr>
          <p:cNvPr id="4" name="Text 1"/>
          <p:cNvSpPr/>
          <p:nvPr/>
        </p:nvSpPr>
        <p:spPr>
          <a:xfrm>
            <a:off x="548640" y="4663440"/>
            <a:ext cx="5486400" cy="27432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TRANSFORMAI GROUNDED INTELLIGENCE ENGINE  |  ADVISORY ID: TAI-ADV-2026-88421</a:t>
            </a:r>
            <a:endParaRPr lang="en-US" sz="800" dirty="0"/>
          </a:p>
        </p:txBody>
      </p:sp>
      <p:sp>
        <p:nvSpPr>
          <p:cNvPr id="5" name="Text 2"/>
          <p:cNvSpPr/>
          <p:nvPr/>
        </p:nvSpPr>
        <p:spPr>
          <a:xfrm>
            <a:off x="6035040" y="4663440"/>
            <a:ext cx="2560320" cy="274320"/>
          </a:xfrm>
          <a:prstGeom prst="rect">
            <a:avLst/>
          </a:prstGeom>
          <a:noFill/>
          <a:ln/>
        </p:spPr>
        <p:txBody>
          <a:bodyPr wrap="square" rtlCol="0" anchor="ctr"/>
          <a:lstStyle/>
          <a:p>
            <a:pPr algn="r" indent="0" marL="0">
              <a:buNone/>
            </a:pPr>
            <a:r>
              <a:rPr lang="en-US" sz="800" b="1" dirty="0">
                <a:solidFill>
                  <a:srgbClr val="64748B"/>
                </a:solidFill>
                <a:latin typeface="Arial" pitchFamily="34" charset="0"/>
                <a:ea typeface="Arial" pitchFamily="34" charset="-122"/>
                <a:cs typeface="Arial" pitchFamily="34" charset="-120"/>
              </a:rPr>
              <a:t>TLP:AMBER+STRICT  |  SLIDE 8 OF 11</a:t>
            </a:r>
            <a:endParaRPr lang="en-US" sz="800" dirty="0"/>
          </a:p>
        </p:txBody>
      </p:sp>
      <p:sp>
        <p:nvSpPr>
          <p:cNvPr id="6" name="Text 3"/>
          <p:cNvSpPr/>
          <p:nvPr/>
        </p:nvSpPr>
        <p:spPr>
          <a:xfrm>
            <a:off x="5943600" y="320040"/>
            <a:ext cx="2651760" cy="256032"/>
          </a:xfrm>
          <a:prstGeom prst="rect">
            <a:avLst/>
          </a:prstGeom>
          <a:noFill/>
          <a:ln/>
        </p:spPr>
        <p:txBody>
          <a:bodyPr wrap="square" rtlCol="0" anchor="ctr"/>
          <a:lstStyle/>
          <a:p>
            <a:pPr algn="r" indent="0" marL="0">
              <a:buNone/>
            </a:pPr>
            <a:r>
              <a:rPr lang="en-US" sz="800" i="1" dirty="0">
                <a:solidFill>
                  <a:srgbClr val="64748B"/>
                </a:solidFill>
                <a:latin typeface="Arial" pitchFamily="34" charset="0"/>
                <a:ea typeface="Arial" pitchFamily="34" charset="-122"/>
                <a:cs typeface="Arial" pitchFamily="34" charset="-120"/>
              </a:rPr>
              <a:t>Source: TAI-ADV-2026-88421, Section 8</a:t>
            </a:r>
            <a:endParaRPr lang="en-US" sz="800" dirty="0"/>
          </a:p>
        </p:txBody>
      </p:sp>
      <p:sp>
        <p:nvSpPr>
          <p:cNvPr id="7" name="Text 4"/>
          <p:cNvSpPr/>
          <p:nvPr/>
        </p:nvSpPr>
        <p:spPr>
          <a:xfrm>
            <a:off x="548640" y="320040"/>
            <a:ext cx="4114800" cy="228600"/>
          </a:xfrm>
          <a:prstGeom prst="rect">
            <a:avLst/>
          </a:prstGeom>
          <a:noFill/>
          <a:ln/>
        </p:spPr>
        <p:txBody>
          <a:bodyPr wrap="square" rtlCol="0" anchor="ctr"/>
          <a:lstStyle/>
          <a:p>
            <a:pPr indent="0" marL="0">
              <a:buNone/>
            </a:pPr>
            <a:r>
              <a:rPr lang="en-US" sz="800" b="1" dirty="0">
                <a:solidFill>
                  <a:srgbClr val="1E3A8A"/>
                </a:solidFill>
                <a:latin typeface="Arial" pitchFamily="34" charset="0"/>
                <a:ea typeface="Arial" pitchFamily="34" charset="-122"/>
                <a:cs typeface="Arial" pitchFamily="34" charset="-120"/>
              </a:rPr>
              <a:t>INCIDENT TIMELINE</a:t>
            </a:r>
            <a:endParaRPr lang="en-US" sz="800" dirty="0"/>
          </a:p>
        </p:txBody>
      </p:sp>
      <p:sp>
        <p:nvSpPr>
          <p:cNvPr id="8" name="Text 5"/>
          <p:cNvSpPr/>
          <p:nvPr/>
        </p:nvSpPr>
        <p:spPr>
          <a:xfrm>
            <a:off x="548640" y="548640"/>
            <a:ext cx="7772400" cy="411480"/>
          </a:xfrm>
          <a:prstGeom prst="rect">
            <a:avLst/>
          </a:prstGeom>
          <a:noFill/>
          <a:ln/>
        </p:spPr>
        <p:txBody>
          <a:bodyPr wrap="square" rtlCol="0" anchor="ctr"/>
          <a:lstStyle/>
          <a:p>
            <a:pPr indent="0" marL="0">
              <a:buNone/>
            </a:pPr>
            <a:r>
              <a:rPr lang="en-US" sz="2000" b="1" dirty="0">
                <a:solidFill>
                  <a:srgbClr val="0B1930"/>
                </a:solidFill>
                <a:latin typeface="Arial" pitchFamily="34" charset="0"/>
                <a:ea typeface="Arial" pitchFamily="34" charset="-122"/>
                <a:cs typeface="Arial" pitchFamily="34" charset="-120"/>
              </a:rPr>
              <a:t>Attack Timeline</a:t>
            </a:r>
            <a:endParaRPr lang="en-US" sz="2000" dirty="0"/>
          </a:p>
        </p:txBody>
      </p:sp>
      <p:sp>
        <p:nvSpPr>
          <p:cNvPr id="9" name="Text 6"/>
          <p:cNvSpPr/>
          <p:nvPr/>
        </p:nvSpPr>
        <p:spPr>
          <a:xfrm>
            <a:off x="548640" y="960120"/>
            <a:ext cx="77724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Chronological Sequence of Observed Intrusion Milestones</a:t>
            </a:r>
            <a:endParaRPr lang="en-US" sz="1000" dirty="0"/>
          </a:p>
        </p:txBody>
      </p:sp>
      <p:sp>
        <p:nvSpPr>
          <p:cNvPr id="10" name="Shape 7"/>
          <p:cNvSpPr/>
          <p:nvPr/>
        </p:nvSpPr>
        <p:spPr>
          <a:xfrm>
            <a:off x="548640" y="1508760"/>
            <a:ext cx="2560320" cy="1234440"/>
          </a:xfrm>
          <a:prstGeom prst="roundRect">
            <a:avLst>
              <a:gd name="adj" fmla="val 4444"/>
            </a:avLst>
          </a:prstGeom>
          <a:solidFill>
            <a:srgbClr val="FFFFFF"/>
          </a:solidFill>
          <a:ln w="9525">
            <a:solidFill>
              <a:srgbClr val="1E3A8A"/>
            </a:solidFill>
            <a:prstDash val="solid"/>
          </a:ln>
        </p:spPr>
      </p:sp>
      <p:sp>
        <p:nvSpPr>
          <p:cNvPr id="11" name="Shape 8"/>
          <p:cNvSpPr/>
          <p:nvPr/>
        </p:nvSpPr>
        <p:spPr>
          <a:xfrm>
            <a:off x="548640" y="1508760"/>
            <a:ext cx="1097280" cy="256032"/>
          </a:xfrm>
          <a:prstGeom prst="rect">
            <a:avLst/>
          </a:prstGeom>
          <a:solidFill>
            <a:srgbClr val="1E3A8A"/>
          </a:solidFill>
          <a:ln/>
        </p:spPr>
      </p:sp>
      <p:sp>
        <p:nvSpPr>
          <p:cNvPr id="12" name="Text 9"/>
          <p:cNvSpPr/>
          <p:nvPr/>
        </p:nvSpPr>
        <p:spPr>
          <a:xfrm>
            <a:off x="548640" y="1527048"/>
            <a:ext cx="1097280" cy="2286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04 Sep 2026</a:t>
            </a:r>
            <a:endParaRPr lang="en-US" sz="800" dirty="0"/>
          </a:p>
        </p:txBody>
      </p:sp>
      <p:sp>
        <p:nvSpPr>
          <p:cNvPr id="13" name="Text 10"/>
          <p:cNvSpPr/>
          <p:nvPr/>
        </p:nvSpPr>
        <p:spPr>
          <a:xfrm>
            <a:off x="640080" y="1828800"/>
            <a:ext cx="2377440" cy="320040"/>
          </a:xfrm>
          <a:prstGeom prst="rect">
            <a:avLst/>
          </a:prstGeom>
          <a:noFill/>
          <a:ln/>
        </p:spPr>
        <p:txBody>
          <a:bodyPr wrap="square" rtlCol="0" anchor="ctr"/>
          <a:lstStyle/>
          <a:p>
            <a:pPr indent="0" marL="0">
              <a:buNone/>
            </a:pPr>
            <a:r>
              <a:rPr lang="en-US" sz="900" b="1" dirty="0">
                <a:solidFill>
                  <a:srgbClr val="0B1930"/>
                </a:solidFill>
                <a:latin typeface="Arial" pitchFamily="34" charset="0"/>
                <a:ea typeface="Arial" pitchFamily="34" charset="-122"/>
                <a:cs typeface="Arial" pitchFamily="34" charset="-120"/>
              </a:rPr>
              <a:t>Initial scanning</a:t>
            </a:r>
            <a:endParaRPr lang="en-US" sz="900" dirty="0"/>
          </a:p>
        </p:txBody>
      </p:sp>
      <p:sp>
        <p:nvSpPr>
          <p:cNvPr id="14" name="Text 11"/>
          <p:cNvSpPr/>
          <p:nvPr/>
        </p:nvSpPr>
        <p:spPr>
          <a:xfrm>
            <a:off x="640080" y="2167128"/>
            <a:ext cx="2377440" cy="502920"/>
          </a:xfrm>
          <a:prstGeom prst="rect">
            <a:avLst/>
          </a:prstGeom>
          <a:noFill/>
          <a:ln/>
        </p:spPr>
        <p:txBody>
          <a:bodyPr wrap="square" rtlCol="0" anchor="ctr"/>
          <a:lstStyle/>
          <a:p>
            <a:pPr indent="0" marL="0">
              <a:lnSpc>
                <a:spcPts val="1100"/>
              </a:lnSpc>
              <a:buNone/>
            </a:pPr>
            <a:r>
              <a:rPr lang="en-US" sz="800" dirty="0">
                <a:solidFill>
                  <a:srgbClr val="1E293B"/>
                </a:solidFill>
                <a:latin typeface="Arial" pitchFamily="34" charset="0"/>
                <a:ea typeface="Arial" pitchFamily="34" charset="-122"/>
                <a:cs typeface="Arial" pitchFamily="34" charset="-120"/>
              </a:rPr>
              <a:t>Automated adversary reconnaissance scanning observed against port 443.</a:t>
            </a:r>
            <a:endParaRPr lang="en-US" sz="800" dirty="0"/>
          </a:p>
        </p:txBody>
      </p:sp>
      <p:sp>
        <p:nvSpPr>
          <p:cNvPr id="15" name="Shape 12"/>
          <p:cNvSpPr/>
          <p:nvPr/>
        </p:nvSpPr>
        <p:spPr>
          <a:xfrm>
            <a:off x="3291840" y="1508760"/>
            <a:ext cx="2560320" cy="1234440"/>
          </a:xfrm>
          <a:prstGeom prst="roundRect">
            <a:avLst>
              <a:gd name="adj" fmla="val 4444"/>
            </a:avLst>
          </a:prstGeom>
          <a:solidFill>
            <a:srgbClr val="FFFFFF"/>
          </a:solidFill>
          <a:ln w="9525">
            <a:solidFill>
              <a:srgbClr val="1E3A8A"/>
            </a:solidFill>
            <a:prstDash val="solid"/>
          </a:ln>
        </p:spPr>
      </p:sp>
      <p:sp>
        <p:nvSpPr>
          <p:cNvPr id="16" name="Shape 13"/>
          <p:cNvSpPr/>
          <p:nvPr/>
        </p:nvSpPr>
        <p:spPr>
          <a:xfrm>
            <a:off x="3291840" y="1508760"/>
            <a:ext cx="1097280" cy="256032"/>
          </a:xfrm>
          <a:prstGeom prst="rect">
            <a:avLst/>
          </a:prstGeom>
          <a:solidFill>
            <a:srgbClr val="1E3A8A"/>
          </a:solidFill>
          <a:ln/>
        </p:spPr>
      </p:sp>
      <p:sp>
        <p:nvSpPr>
          <p:cNvPr id="17" name="Text 14"/>
          <p:cNvSpPr/>
          <p:nvPr/>
        </p:nvSpPr>
        <p:spPr>
          <a:xfrm>
            <a:off x="3291840" y="1527048"/>
            <a:ext cx="1097280" cy="2286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05 Sep 2026</a:t>
            </a:r>
            <a:endParaRPr lang="en-US" sz="800" dirty="0"/>
          </a:p>
        </p:txBody>
      </p:sp>
      <p:sp>
        <p:nvSpPr>
          <p:cNvPr id="18" name="Text 15"/>
          <p:cNvSpPr/>
          <p:nvPr/>
        </p:nvSpPr>
        <p:spPr>
          <a:xfrm>
            <a:off x="3383280" y="1828800"/>
            <a:ext cx="2377440" cy="320040"/>
          </a:xfrm>
          <a:prstGeom prst="rect">
            <a:avLst/>
          </a:prstGeom>
          <a:noFill/>
          <a:ln/>
        </p:spPr>
        <p:txBody>
          <a:bodyPr wrap="square" rtlCol="0" anchor="ctr"/>
          <a:lstStyle/>
          <a:p>
            <a:pPr indent="0" marL="0">
              <a:buNone/>
            </a:pPr>
            <a:r>
              <a:rPr lang="en-US" sz="900" b="1" dirty="0">
                <a:solidFill>
                  <a:srgbClr val="0B1930"/>
                </a:solidFill>
                <a:latin typeface="Arial" pitchFamily="34" charset="0"/>
                <a:ea typeface="Arial" pitchFamily="34" charset="-122"/>
                <a:cs typeface="Arial" pitchFamily="34" charset="-120"/>
              </a:rPr>
              <a:t>Vulnerable servers identified</a:t>
            </a:r>
            <a:endParaRPr lang="en-US" sz="900" dirty="0"/>
          </a:p>
        </p:txBody>
      </p:sp>
      <p:sp>
        <p:nvSpPr>
          <p:cNvPr id="19" name="Text 16"/>
          <p:cNvSpPr/>
          <p:nvPr/>
        </p:nvSpPr>
        <p:spPr>
          <a:xfrm>
            <a:off x="3383280" y="2167128"/>
            <a:ext cx="2377440" cy="502920"/>
          </a:xfrm>
          <a:prstGeom prst="rect">
            <a:avLst/>
          </a:prstGeom>
          <a:noFill/>
          <a:ln/>
        </p:spPr>
        <p:txBody>
          <a:bodyPr wrap="square" rtlCol="0" anchor="ctr"/>
          <a:lstStyle/>
          <a:p>
            <a:pPr indent="0" marL="0">
              <a:lnSpc>
                <a:spcPts val="1100"/>
              </a:lnSpc>
              <a:buNone/>
            </a:pPr>
            <a:r>
              <a:rPr lang="en-US" sz="800" dirty="0">
                <a:solidFill>
                  <a:srgbClr val="1E293B"/>
                </a:solidFill>
                <a:latin typeface="Arial" pitchFamily="34" charset="0"/>
                <a:ea typeface="Arial" pitchFamily="34" charset="-122"/>
                <a:cs typeface="Arial" pitchFamily="34" charset="-120"/>
              </a:rPr>
              <a:t>Target OrionGate appliances enumerated across network perimeters.</a:t>
            </a:r>
            <a:endParaRPr lang="en-US" sz="800" dirty="0"/>
          </a:p>
        </p:txBody>
      </p:sp>
      <p:sp>
        <p:nvSpPr>
          <p:cNvPr id="20" name="Shape 17"/>
          <p:cNvSpPr/>
          <p:nvPr/>
        </p:nvSpPr>
        <p:spPr>
          <a:xfrm>
            <a:off x="6035040" y="1508760"/>
            <a:ext cx="2560320" cy="1234440"/>
          </a:xfrm>
          <a:prstGeom prst="roundRect">
            <a:avLst>
              <a:gd name="adj" fmla="val 4444"/>
            </a:avLst>
          </a:prstGeom>
          <a:solidFill>
            <a:srgbClr val="FFFFFF"/>
          </a:solidFill>
          <a:ln w="9525">
            <a:solidFill>
              <a:srgbClr val="1E3A8A"/>
            </a:solidFill>
            <a:prstDash val="solid"/>
          </a:ln>
        </p:spPr>
      </p:sp>
      <p:sp>
        <p:nvSpPr>
          <p:cNvPr id="21" name="Shape 18"/>
          <p:cNvSpPr/>
          <p:nvPr/>
        </p:nvSpPr>
        <p:spPr>
          <a:xfrm>
            <a:off x="6035040" y="1508760"/>
            <a:ext cx="1097280" cy="256032"/>
          </a:xfrm>
          <a:prstGeom prst="rect">
            <a:avLst/>
          </a:prstGeom>
          <a:solidFill>
            <a:srgbClr val="1E3A8A"/>
          </a:solidFill>
          <a:ln/>
        </p:spPr>
      </p:sp>
      <p:sp>
        <p:nvSpPr>
          <p:cNvPr id="22" name="Text 19"/>
          <p:cNvSpPr/>
          <p:nvPr/>
        </p:nvSpPr>
        <p:spPr>
          <a:xfrm>
            <a:off x="6035040" y="1527048"/>
            <a:ext cx="1097280" cy="2286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06 Sep 2026</a:t>
            </a:r>
            <a:endParaRPr lang="en-US" sz="800" dirty="0"/>
          </a:p>
        </p:txBody>
      </p:sp>
      <p:sp>
        <p:nvSpPr>
          <p:cNvPr id="23" name="Text 20"/>
          <p:cNvSpPr/>
          <p:nvPr/>
        </p:nvSpPr>
        <p:spPr>
          <a:xfrm>
            <a:off x="6126480" y="1828800"/>
            <a:ext cx="2377440" cy="320040"/>
          </a:xfrm>
          <a:prstGeom prst="rect">
            <a:avLst/>
          </a:prstGeom>
          <a:noFill/>
          <a:ln/>
        </p:spPr>
        <p:txBody>
          <a:bodyPr wrap="square" rtlCol="0" anchor="ctr"/>
          <a:lstStyle/>
          <a:p>
            <a:pPr indent="0" marL="0">
              <a:buNone/>
            </a:pPr>
            <a:r>
              <a:rPr lang="en-US" sz="900" b="1" dirty="0">
                <a:solidFill>
                  <a:srgbClr val="0B1930"/>
                </a:solidFill>
                <a:latin typeface="Arial" pitchFamily="34" charset="0"/>
                <a:ea typeface="Arial" pitchFamily="34" charset="-122"/>
                <a:cs typeface="Arial" pitchFamily="34" charset="-120"/>
              </a:rPr>
              <a:t>Exploitation attempts</a:t>
            </a:r>
            <a:endParaRPr lang="en-US" sz="900" dirty="0"/>
          </a:p>
        </p:txBody>
      </p:sp>
      <p:sp>
        <p:nvSpPr>
          <p:cNvPr id="24" name="Text 21"/>
          <p:cNvSpPr/>
          <p:nvPr/>
        </p:nvSpPr>
        <p:spPr>
          <a:xfrm>
            <a:off x="6126480" y="2167128"/>
            <a:ext cx="2377440" cy="502920"/>
          </a:xfrm>
          <a:prstGeom prst="rect">
            <a:avLst/>
          </a:prstGeom>
          <a:noFill/>
          <a:ln/>
        </p:spPr>
        <p:txBody>
          <a:bodyPr wrap="square" rtlCol="0" anchor="ctr"/>
          <a:lstStyle/>
          <a:p>
            <a:pPr indent="0" marL="0">
              <a:lnSpc>
                <a:spcPts val="1100"/>
              </a:lnSpc>
              <a:buNone/>
            </a:pPr>
            <a:r>
              <a:rPr lang="en-US" sz="800" dirty="0">
                <a:solidFill>
                  <a:srgbClr val="1E293B"/>
                </a:solidFill>
                <a:latin typeface="Arial" pitchFamily="34" charset="0"/>
                <a:ea typeface="Arial" pitchFamily="34" charset="-122"/>
                <a:cs typeface="Arial" pitchFamily="34" charset="-120"/>
              </a:rPr>
              <a:t>Exploit delivery exploiting CVE-2026-88421 deserialization flaw.</a:t>
            </a:r>
            <a:endParaRPr lang="en-US" sz="800" dirty="0"/>
          </a:p>
        </p:txBody>
      </p:sp>
      <p:sp>
        <p:nvSpPr>
          <p:cNvPr id="25" name="Shape 22"/>
          <p:cNvSpPr/>
          <p:nvPr/>
        </p:nvSpPr>
        <p:spPr>
          <a:xfrm>
            <a:off x="548640" y="2971800"/>
            <a:ext cx="2560320" cy="1234440"/>
          </a:xfrm>
          <a:prstGeom prst="roundRect">
            <a:avLst>
              <a:gd name="adj" fmla="val 4444"/>
            </a:avLst>
          </a:prstGeom>
          <a:solidFill>
            <a:srgbClr val="FFFFFF"/>
          </a:solidFill>
          <a:ln w="9525">
            <a:solidFill>
              <a:srgbClr val="1E3A8A"/>
            </a:solidFill>
            <a:prstDash val="solid"/>
          </a:ln>
        </p:spPr>
      </p:sp>
      <p:sp>
        <p:nvSpPr>
          <p:cNvPr id="26" name="Shape 23"/>
          <p:cNvSpPr/>
          <p:nvPr/>
        </p:nvSpPr>
        <p:spPr>
          <a:xfrm>
            <a:off x="548640" y="2971800"/>
            <a:ext cx="1097280" cy="256032"/>
          </a:xfrm>
          <a:prstGeom prst="rect">
            <a:avLst/>
          </a:prstGeom>
          <a:solidFill>
            <a:srgbClr val="1E3A8A"/>
          </a:solidFill>
          <a:ln/>
        </p:spPr>
      </p:sp>
      <p:sp>
        <p:nvSpPr>
          <p:cNvPr id="27" name="Text 24"/>
          <p:cNvSpPr/>
          <p:nvPr/>
        </p:nvSpPr>
        <p:spPr>
          <a:xfrm>
            <a:off x="548640" y="2990088"/>
            <a:ext cx="1097280" cy="2286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07 Sep 2026</a:t>
            </a:r>
            <a:endParaRPr lang="en-US" sz="800" dirty="0"/>
          </a:p>
        </p:txBody>
      </p:sp>
      <p:sp>
        <p:nvSpPr>
          <p:cNvPr id="28" name="Text 25"/>
          <p:cNvSpPr/>
          <p:nvPr/>
        </p:nvSpPr>
        <p:spPr>
          <a:xfrm>
            <a:off x="640080" y="3291840"/>
            <a:ext cx="2377440" cy="320040"/>
          </a:xfrm>
          <a:prstGeom prst="rect">
            <a:avLst/>
          </a:prstGeom>
          <a:noFill/>
          <a:ln/>
        </p:spPr>
        <p:txBody>
          <a:bodyPr wrap="square" rtlCol="0" anchor="ctr"/>
          <a:lstStyle/>
          <a:p>
            <a:pPr indent="0" marL="0">
              <a:buNone/>
            </a:pPr>
            <a:r>
              <a:rPr lang="en-US" sz="900" b="1" dirty="0">
                <a:solidFill>
                  <a:srgbClr val="0B1930"/>
                </a:solidFill>
                <a:latin typeface="Arial" pitchFamily="34" charset="0"/>
                <a:ea typeface="Arial" pitchFamily="34" charset="-122"/>
                <a:cs typeface="Arial" pitchFamily="34" charset="-120"/>
              </a:rPr>
              <a:t>NightFalcon payload observed</a:t>
            </a:r>
            <a:endParaRPr lang="en-US" sz="900" dirty="0"/>
          </a:p>
        </p:txBody>
      </p:sp>
      <p:sp>
        <p:nvSpPr>
          <p:cNvPr id="29" name="Text 26"/>
          <p:cNvSpPr/>
          <p:nvPr/>
        </p:nvSpPr>
        <p:spPr>
          <a:xfrm>
            <a:off x="640080" y="3630168"/>
            <a:ext cx="2377440" cy="502920"/>
          </a:xfrm>
          <a:prstGeom prst="rect">
            <a:avLst/>
          </a:prstGeom>
          <a:noFill/>
          <a:ln/>
        </p:spPr>
        <p:txBody>
          <a:bodyPr wrap="square" rtlCol="0" anchor="ctr"/>
          <a:lstStyle/>
          <a:p>
            <a:pPr indent="0" marL="0">
              <a:lnSpc>
                <a:spcPts val="1100"/>
              </a:lnSpc>
              <a:buNone/>
            </a:pPr>
            <a:r>
              <a:rPr lang="en-US" sz="800" dirty="0">
                <a:solidFill>
                  <a:srgbClr val="1E293B"/>
                </a:solidFill>
                <a:latin typeface="Arial" pitchFamily="34" charset="0"/>
                <a:ea typeface="Arial" pitchFamily="34" charset="-122"/>
                <a:cs typeface="Arial" pitchFamily="34" charset="-120"/>
              </a:rPr>
              <a:t>Execution of nfsvc.exe and creation of OGUpdateService persistence.</a:t>
            </a:r>
            <a:endParaRPr lang="en-US" sz="800" dirty="0"/>
          </a:p>
        </p:txBody>
      </p:sp>
      <p:sp>
        <p:nvSpPr>
          <p:cNvPr id="30" name="Shape 27"/>
          <p:cNvSpPr/>
          <p:nvPr/>
        </p:nvSpPr>
        <p:spPr>
          <a:xfrm>
            <a:off x="3291840" y="2971800"/>
            <a:ext cx="2560320" cy="1234440"/>
          </a:xfrm>
          <a:prstGeom prst="roundRect">
            <a:avLst>
              <a:gd name="adj" fmla="val 4444"/>
            </a:avLst>
          </a:prstGeom>
          <a:solidFill>
            <a:srgbClr val="FFFFFF"/>
          </a:solidFill>
          <a:ln w="9525">
            <a:solidFill>
              <a:srgbClr val="1E3A8A"/>
            </a:solidFill>
            <a:prstDash val="solid"/>
          </a:ln>
        </p:spPr>
      </p:sp>
      <p:sp>
        <p:nvSpPr>
          <p:cNvPr id="31" name="Shape 28"/>
          <p:cNvSpPr/>
          <p:nvPr/>
        </p:nvSpPr>
        <p:spPr>
          <a:xfrm>
            <a:off x="3291840" y="2971800"/>
            <a:ext cx="1097280" cy="256032"/>
          </a:xfrm>
          <a:prstGeom prst="rect">
            <a:avLst/>
          </a:prstGeom>
          <a:solidFill>
            <a:srgbClr val="1E3A8A"/>
          </a:solidFill>
          <a:ln/>
        </p:spPr>
      </p:sp>
      <p:sp>
        <p:nvSpPr>
          <p:cNvPr id="32" name="Text 29"/>
          <p:cNvSpPr/>
          <p:nvPr/>
        </p:nvSpPr>
        <p:spPr>
          <a:xfrm>
            <a:off x="3291840" y="2990088"/>
            <a:ext cx="1097280" cy="2286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07 Sep 2026</a:t>
            </a:r>
            <a:endParaRPr lang="en-US" sz="800" dirty="0"/>
          </a:p>
        </p:txBody>
      </p:sp>
      <p:sp>
        <p:nvSpPr>
          <p:cNvPr id="33" name="Text 30"/>
          <p:cNvSpPr/>
          <p:nvPr/>
        </p:nvSpPr>
        <p:spPr>
          <a:xfrm>
            <a:off x="3383280" y="3291840"/>
            <a:ext cx="2377440" cy="320040"/>
          </a:xfrm>
          <a:prstGeom prst="rect">
            <a:avLst/>
          </a:prstGeom>
          <a:noFill/>
          <a:ln/>
        </p:spPr>
        <p:txBody>
          <a:bodyPr wrap="square" rtlCol="0" anchor="ctr"/>
          <a:lstStyle/>
          <a:p>
            <a:pPr indent="0" marL="0">
              <a:buNone/>
            </a:pPr>
            <a:r>
              <a:rPr lang="en-US" sz="900" b="1" dirty="0">
                <a:solidFill>
                  <a:srgbClr val="0B1930"/>
                </a:solidFill>
                <a:latin typeface="Arial" pitchFamily="34" charset="0"/>
                <a:ea typeface="Arial" pitchFamily="34" charset="-122"/>
                <a:cs typeface="Arial" pitchFamily="34" charset="-120"/>
              </a:rPr>
              <a:t>C2 communication established</a:t>
            </a:r>
            <a:endParaRPr lang="en-US" sz="900" dirty="0"/>
          </a:p>
        </p:txBody>
      </p:sp>
      <p:sp>
        <p:nvSpPr>
          <p:cNvPr id="34" name="Text 31"/>
          <p:cNvSpPr/>
          <p:nvPr/>
        </p:nvSpPr>
        <p:spPr>
          <a:xfrm>
            <a:off x="3383280" y="3630168"/>
            <a:ext cx="2377440" cy="502920"/>
          </a:xfrm>
          <a:prstGeom prst="rect">
            <a:avLst/>
          </a:prstGeom>
          <a:noFill/>
          <a:ln/>
        </p:spPr>
        <p:txBody>
          <a:bodyPr wrap="square" rtlCol="0" anchor="ctr"/>
          <a:lstStyle/>
          <a:p>
            <a:pPr indent="0" marL="0">
              <a:lnSpc>
                <a:spcPts val="1100"/>
              </a:lnSpc>
              <a:buNone/>
            </a:pPr>
            <a:r>
              <a:rPr lang="en-US" sz="800" dirty="0">
                <a:solidFill>
                  <a:srgbClr val="1E293B"/>
                </a:solidFill>
                <a:latin typeface="Arial" pitchFamily="34" charset="0"/>
                <a:ea typeface="Arial" pitchFamily="34" charset="-122"/>
                <a:cs typeface="Arial" pitchFamily="34" charset="-120"/>
              </a:rPr>
              <a:t>Outbound HTTPS beacons established to 91.203.18.77.</a:t>
            </a:r>
            <a:endParaRPr lang="en-US" sz="800" dirty="0"/>
          </a:p>
        </p:txBody>
      </p:sp>
      <p:sp>
        <p:nvSpPr>
          <p:cNvPr id="35" name="Shape 32"/>
          <p:cNvSpPr/>
          <p:nvPr/>
        </p:nvSpPr>
        <p:spPr>
          <a:xfrm>
            <a:off x="6035040" y="2971800"/>
            <a:ext cx="2560320" cy="1234440"/>
          </a:xfrm>
          <a:prstGeom prst="roundRect">
            <a:avLst>
              <a:gd name="adj" fmla="val 4444"/>
            </a:avLst>
          </a:prstGeom>
          <a:solidFill>
            <a:srgbClr val="FFFFFF"/>
          </a:solidFill>
          <a:ln w="9525">
            <a:solidFill>
              <a:srgbClr val="1E3A8A"/>
            </a:solidFill>
            <a:prstDash val="solid"/>
          </a:ln>
        </p:spPr>
      </p:sp>
      <p:sp>
        <p:nvSpPr>
          <p:cNvPr id="36" name="Shape 33"/>
          <p:cNvSpPr/>
          <p:nvPr/>
        </p:nvSpPr>
        <p:spPr>
          <a:xfrm>
            <a:off x="6035040" y="2971800"/>
            <a:ext cx="1097280" cy="256032"/>
          </a:xfrm>
          <a:prstGeom prst="rect">
            <a:avLst/>
          </a:prstGeom>
          <a:solidFill>
            <a:srgbClr val="1E3A8A"/>
          </a:solidFill>
          <a:ln/>
        </p:spPr>
      </p:sp>
      <p:sp>
        <p:nvSpPr>
          <p:cNvPr id="37" name="Text 34"/>
          <p:cNvSpPr/>
          <p:nvPr/>
        </p:nvSpPr>
        <p:spPr>
          <a:xfrm>
            <a:off x="6035040" y="2990088"/>
            <a:ext cx="1097280" cy="228600"/>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08 Sep 2026</a:t>
            </a:r>
            <a:endParaRPr lang="en-US" sz="800" dirty="0"/>
          </a:p>
        </p:txBody>
      </p:sp>
      <p:sp>
        <p:nvSpPr>
          <p:cNvPr id="38" name="Text 35"/>
          <p:cNvSpPr/>
          <p:nvPr/>
        </p:nvSpPr>
        <p:spPr>
          <a:xfrm>
            <a:off x="6126480" y="3291840"/>
            <a:ext cx="2377440" cy="320040"/>
          </a:xfrm>
          <a:prstGeom prst="rect">
            <a:avLst/>
          </a:prstGeom>
          <a:noFill/>
          <a:ln/>
        </p:spPr>
        <p:txBody>
          <a:bodyPr wrap="square" rtlCol="0" anchor="ctr"/>
          <a:lstStyle/>
          <a:p>
            <a:pPr indent="0" marL="0">
              <a:buNone/>
            </a:pPr>
            <a:r>
              <a:rPr lang="en-US" sz="900" b="1" dirty="0">
                <a:solidFill>
                  <a:srgbClr val="0B1930"/>
                </a:solidFill>
                <a:latin typeface="Arial" pitchFamily="34" charset="0"/>
                <a:ea typeface="Arial" pitchFamily="34" charset="-122"/>
                <a:cs typeface="Arial" pitchFamily="34" charset="-120"/>
              </a:rPr>
              <a:t>Advisory generated</a:t>
            </a:r>
            <a:endParaRPr lang="en-US" sz="900" dirty="0"/>
          </a:p>
        </p:txBody>
      </p:sp>
      <p:sp>
        <p:nvSpPr>
          <p:cNvPr id="39" name="Text 36"/>
          <p:cNvSpPr/>
          <p:nvPr/>
        </p:nvSpPr>
        <p:spPr>
          <a:xfrm>
            <a:off x="6126480" y="3630168"/>
            <a:ext cx="2377440" cy="502920"/>
          </a:xfrm>
          <a:prstGeom prst="rect">
            <a:avLst/>
          </a:prstGeom>
          <a:noFill/>
          <a:ln/>
        </p:spPr>
        <p:txBody>
          <a:bodyPr wrap="square" rtlCol="0" anchor="ctr"/>
          <a:lstStyle/>
          <a:p>
            <a:pPr indent="0" marL="0">
              <a:lnSpc>
                <a:spcPts val="1100"/>
              </a:lnSpc>
              <a:buNone/>
            </a:pPr>
            <a:r>
              <a:rPr lang="en-US" sz="800" dirty="0">
                <a:solidFill>
                  <a:srgbClr val="1E293B"/>
                </a:solidFill>
                <a:latin typeface="Arial" pitchFamily="34" charset="0"/>
                <a:ea typeface="Arial" pitchFamily="34" charset="-122"/>
                <a:cs typeface="Arial" pitchFamily="34" charset="-120"/>
              </a:rPr>
              <a:t>Containment enforced; emergency security advisory published.</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Shape 0"/>
          <p:cNvSpPr/>
          <p:nvPr/>
        </p:nvSpPr>
        <p:spPr>
          <a:xfrm>
            <a:off x="548640" y="4572000"/>
            <a:ext cx="8046720" cy="18288"/>
          </a:xfrm>
          <a:prstGeom prst="rect">
            <a:avLst/>
          </a:prstGeom>
          <a:solidFill>
            <a:srgbClr val="CBD5E1"/>
          </a:solidFill>
          <a:ln w="12700">
            <a:solidFill>
              <a:srgbClr val="CBD5E1"/>
            </a:solidFill>
            <a:prstDash val="solid"/>
          </a:ln>
        </p:spPr>
      </p:sp>
      <p:sp>
        <p:nvSpPr>
          <p:cNvPr id="4" name="Text 1"/>
          <p:cNvSpPr/>
          <p:nvPr/>
        </p:nvSpPr>
        <p:spPr>
          <a:xfrm>
            <a:off x="548640" y="4663440"/>
            <a:ext cx="5486400" cy="27432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TRANSFORMAI GROUNDED INTELLIGENCE ENGINE  |  ADVISORY ID: TAI-ADV-2026-88421</a:t>
            </a:r>
            <a:endParaRPr lang="en-US" sz="800" dirty="0"/>
          </a:p>
        </p:txBody>
      </p:sp>
      <p:sp>
        <p:nvSpPr>
          <p:cNvPr id="5" name="Text 2"/>
          <p:cNvSpPr/>
          <p:nvPr/>
        </p:nvSpPr>
        <p:spPr>
          <a:xfrm>
            <a:off x="6035040" y="4663440"/>
            <a:ext cx="2560320" cy="274320"/>
          </a:xfrm>
          <a:prstGeom prst="rect">
            <a:avLst/>
          </a:prstGeom>
          <a:noFill/>
          <a:ln/>
        </p:spPr>
        <p:txBody>
          <a:bodyPr wrap="square" rtlCol="0" anchor="ctr"/>
          <a:lstStyle/>
          <a:p>
            <a:pPr algn="r" indent="0" marL="0">
              <a:buNone/>
            </a:pPr>
            <a:r>
              <a:rPr lang="en-US" sz="800" b="1" dirty="0">
                <a:solidFill>
                  <a:srgbClr val="64748B"/>
                </a:solidFill>
                <a:latin typeface="Arial" pitchFamily="34" charset="0"/>
                <a:ea typeface="Arial" pitchFamily="34" charset="-122"/>
                <a:cs typeface="Arial" pitchFamily="34" charset="-120"/>
              </a:rPr>
              <a:t>TLP:AMBER+STRICT  |  SLIDE 9 OF 11</a:t>
            </a:r>
            <a:endParaRPr lang="en-US" sz="800" dirty="0"/>
          </a:p>
        </p:txBody>
      </p:sp>
      <p:sp>
        <p:nvSpPr>
          <p:cNvPr id="6" name="Text 3"/>
          <p:cNvSpPr/>
          <p:nvPr/>
        </p:nvSpPr>
        <p:spPr>
          <a:xfrm>
            <a:off x="5943600" y="320040"/>
            <a:ext cx="2651760" cy="256032"/>
          </a:xfrm>
          <a:prstGeom prst="rect">
            <a:avLst/>
          </a:prstGeom>
          <a:noFill/>
          <a:ln/>
        </p:spPr>
        <p:txBody>
          <a:bodyPr wrap="square" rtlCol="0" anchor="ctr"/>
          <a:lstStyle/>
          <a:p>
            <a:pPr algn="r" indent="0" marL="0">
              <a:buNone/>
            </a:pPr>
            <a:r>
              <a:rPr lang="en-US" sz="800" i="1" dirty="0">
                <a:solidFill>
                  <a:srgbClr val="64748B"/>
                </a:solidFill>
                <a:latin typeface="Arial" pitchFamily="34" charset="0"/>
                <a:ea typeface="Arial" pitchFamily="34" charset="-122"/>
                <a:cs typeface="Arial" pitchFamily="34" charset="-120"/>
              </a:rPr>
              <a:t>Source: TAI-ADV-2026-88421, Section 9</a:t>
            </a:r>
            <a:endParaRPr lang="en-US" sz="800" dirty="0"/>
          </a:p>
        </p:txBody>
      </p:sp>
      <p:sp>
        <p:nvSpPr>
          <p:cNvPr id="7" name="Text 4"/>
          <p:cNvSpPr/>
          <p:nvPr/>
        </p:nvSpPr>
        <p:spPr>
          <a:xfrm>
            <a:off x="548640" y="320040"/>
            <a:ext cx="4114800" cy="228600"/>
          </a:xfrm>
          <a:prstGeom prst="rect">
            <a:avLst/>
          </a:prstGeom>
          <a:noFill/>
          <a:ln/>
        </p:spPr>
        <p:txBody>
          <a:bodyPr wrap="square" rtlCol="0" anchor="ctr"/>
          <a:lstStyle/>
          <a:p>
            <a:pPr indent="0" marL="0">
              <a:buNone/>
            </a:pPr>
            <a:r>
              <a:rPr lang="en-US" sz="800" b="1" dirty="0">
                <a:solidFill>
                  <a:srgbClr val="1E3A8A"/>
                </a:solidFill>
                <a:latin typeface="Arial" pitchFamily="34" charset="0"/>
                <a:ea typeface="Arial" pitchFamily="34" charset="-122"/>
                <a:cs typeface="Arial" pitchFamily="34" charset="-120"/>
              </a:rPr>
              <a:t>DETECTION ENGINEERING</a:t>
            </a:r>
            <a:endParaRPr lang="en-US" sz="800" dirty="0"/>
          </a:p>
        </p:txBody>
      </p:sp>
      <p:sp>
        <p:nvSpPr>
          <p:cNvPr id="8" name="Text 5"/>
          <p:cNvSpPr/>
          <p:nvPr/>
        </p:nvSpPr>
        <p:spPr>
          <a:xfrm>
            <a:off x="548640" y="548640"/>
            <a:ext cx="7772400" cy="411480"/>
          </a:xfrm>
          <a:prstGeom prst="rect">
            <a:avLst/>
          </a:prstGeom>
          <a:noFill/>
          <a:ln/>
        </p:spPr>
        <p:txBody>
          <a:bodyPr wrap="square" rtlCol="0" anchor="ctr"/>
          <a:lstStyle/>
          <a:p>
            <a:pPr indent="0" marL="0">
              <a:buNone/>
            </a:pPr>
            <a:r>
              <a:rPr lang="en-US" sz="2000" b="1" dirty="0">
                <a:solidFill>
                  <a:srgbClr val="0B1930"/>
                </a:solidFill>
                <a:latin typeface="Arial" pitchFamily="34" charset="0"/>
                <a:ea typeface="Arial" pitchFamily="34" charset="-122"/>
                <a:cs typeface="Arial" pitchFamily="34" charset="-120"/>
              </a:rPr>
              <a:t>Detection &amp; Monitoring</a:t>
            </a:r>
            <a:endParaRPr lang="en-US" sz="2000" dirty="0"/>
          </a:p>
        </p:txBody>
      </p:sp>
      <p:sp>
        <p:nvSpPr>
          <p:cNvPr id="9" name="Text 6"/>
          <p:cNvSpPr/>
          <p:nvPr/>
        </p:nvSpPr>
        <p:spPr>
          <a:xfrm>
            <a:off x="548640" y="960120"/>
            <a:ext cx="77724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Multi-Tier Telemetry, Network Rules, and Endpoint Monitoring</a:t>
            </a:r>
            <a:endParaRPr lang="en-US" sz="1000" dirty="0"/>
          </a:p>
        </p:txBody>
      </p:sp>
      <p:sp>
        <p:nvSpPr>
          <p:cNvPr id="10" name="Shape 7"/>
          <p:cNvSpPr/>
          <p:nvPr/>
        </p:nvSpPr>
        <p:spPr>
          <a:xfrm>
            <a:off x="548640" y="1325880"/>
            <a:ext cx="2560320" cy="3017520"/>
          </a:xfrm>
          <a:prstGeom prst="roundRect">
            <a:avLst>
              <a:gd name="adj" fmla="val 2143"/>
            </a:avLst>
          </a:prstGeom>
          <a:solidFill>
            <a:srgbClr val="FFFFFF"/>
          </a:solidFill>
          <a:ln w="9525">
            <a:solidFill>
              <a:srgbClr val="CBD5E1"/>
            </a:solidFill>
            <a:prstDash val="solid"/>
          </a:ln>
        </p:spPr>
      </p:sp>
      <p:sp>
        <p:nvSpPr>
          <p:cNvPr id="11" name="Shape 8"/>
          <p:cNvSpPr/>
          <p:nvPr/>
        </p:nvSpPr>
        <p:spPr>
          <a:xfrm>
            <a:off x="548640" y="1325880"/>
            <a:ext cx="2560320" cy="411480"/>
          </a:xfrm>
          <a:prstGeom prst="rect">
            <a:avLst/>
          </a:prstGeom>
          <a:solidFill>
            <a:srgbClr val="0B1930"/>
          </a:solidFill>
          <a:ln/>
        </p:spPr>
      </p:sp>
      <p:sp>
        <p:nvSpPr>
          <p:cNvPr id="12" name="Text 9"/>
          <p:cNvSpPr/>
          <p:nvPr/>
        </p:nvSpPr>
        <p:spPr>
          <a:xfrm>
            <a:off x="640080" y="1389888"/>
            <a:ext cx="2377440" cy="32004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NETWORK</a:t>
            </a:r>
            <a:endParaRPr lang="en-US" sz="850" dirty="0"/>
          </a:p>
        </p:txBody>
      </p:sp>
      <p:sp>
        <p:nvSpPr>
          <p:cNvPr id="13" name="Text 10"/>
          <p:cNvSpPr/>
          <p:nvPr/>
        </p:nvSpPr>
        <p:spPr>
          <a:xfrm>
            <a:off x="685800" y="1874520"/>
            <a:ext cx="2286000" cy="713232"/>
          </a:xfrm>
          <a:prstGeom prst="rect">
            <a:avLst/>
          </a:prstGeom>
          <a:noFill/>
          <a:ln/>
        </p:spPr>
        <p:txBody>
          <a:bodyPr wrap="square" rtlCol="0" anchor="ctr"/>
          <a:lstStyle/>
          <a:p>
            <a:pPr indent="0" marL="0">
              <a:lnSpc>
                <a:spcPts val="1200"/>
              </a:lnSpc>
              <a:buNone/>
            </a:pPr>
            <a:r>
              <a:rPr lang="en-US" sz="800" dirty="0">
                <a:solidFill>
                  <a:srgbClr val="1E293B"/>
                </a:solidFill>
                <a:latin typeface="Arial" pitchFamily="34" charset="0"/>
                <a:ea typeface="Arial" pitchFamily="34" charset="-122"/>
                <a:cs typeface="Arial" pitchFamily="34" charset="-120"/>
              </a:rPr>
              <a:t>• C2 IP monitoring (185.71.44.19, 91.203.18.77)</a:t>
            </a:r>
            <a:endParaRPr lang="en-US" sz="800" dirty="0"/>
          </a:p>
        </p:txBody>
      </p:sp>
      <p:sp>
        <p:nvSpPr>
          <p:cNvPr id="14" name="Text 11"/>
          <p:cNvSpPr/>
          <p:nvPr/>
        </p:nvSpPr>
        <p:spPr>
          <a:xfrm>
            <a:off x="685800" y="2651760"/>
            <a:ext cx="2286000" cy="713232"/>
          </a:xfrm>
          <a:prstGeom prst="rect">
            <a:avLst/>
          </a:prstGeom>
          <a:noFill/>
          <a:ln/>
        </p:spPr>
        <p:txBody>
          <a:bodyPr wrap="square" rtlCol="0" anchor="ctr"/>
          <a:lstStyle/>
          <a:p>
            <a:pPr indent="0" marL="0">
              <a:lnSpc>
                <a:spcPts val="1200"/>
              </a:lnSpc>
              <a:buNone/>
            </a:pPr>
            <a:r>
              <a:rPr lang="en-US" sz="800" dirty="0">
                <a:solidFill>
                  <a:srgbClr val="1E293B"/>
                </a:solidFill>
                <a:latin typeface="Arial" pitchFamily="34" charset="0"/>
                <a:ea typeface="Arial" pitchFamily="34" charset="-122"/>
                <a:cs typeface="Arial" pitchFamily="34" charset="-120"/>
              </a:rPr>
              <a:t>• DNS monitoring for defanged domain queries</a:t>
            </a:r>
            <a:endParaRPr lang="en-US" sz="800" dirty="0"/>
          </a:p>
        </p:txBody>
      </p:sp>
      <p:sp>
        <p:nvSpPr>
          <p:cNvPr id="15" name="Text 12"/>
          <p:cNvSpPr/>
          <p:nvPr/>
        </p:nvSpPr>
        <p:spPr>
          <a:xfrm>
            <a:off x="685800" y="3429000"/>
            <a:ext cx="2286000" cy="713232"/>
          </a:xfrm>
          <a:prstGeom prst="rect">
            <a:avLst/>
          </a:prstGeom>
          <a:noFill/>
          <a:ln/>
        </p:spPr>
        <p:txBody>
          <a:bodyPr wrap="square" rtlCol="0" anchor="ctr"/>
          <a:lstStyle/>
          <a:p>
            <a:pPr indent="0" marL="0">
              <a:lnSpc>
                <a:spcPts val="1200"/>
              </a:lnSpc>
              <a:buNone/>
            </a:pPr>
            <a:r>
              <a:rPr lang="en-US" sz="800" dirty="0">
                <a:solidFill>
                  <a:srgbClr val="1E293B"/>
                </a:solidFill>
                <a:latin typeface="Arial" pitchFamily="34" charset="0"/>
                <a:ea typeface="Arial" pitchFamily="34" charset="-122"/>
                <a:cs typeface="Arial" pitchFamily="34" charset="-120"/>
              </a:rPr>
              <a:t>• Outbound HTTPS monitoring on unusual ports</a:t>
            </a:r>
            <a:endParaRPr lang="en-US" sz="800" dirty="0"/>
          </a:p>
        </p:txBody>
      </p:sp>
      <p:sp>
        <p:nvSpPr>
          <p:cNvPr id="16" name="Shape 13"/>
          <p:cNvSpPr/>
          <p:nvPr/>
        </p:nvSpPr>
        <p:spPr>
          <a:xfrm>
            <a:off x="3291840" y="1325880"/>
            <a:ext cx="2560320" cy="3017520"/>
          </a:xfrm>
          <a:prstGeom prst="roundRect">
            <a:avLst>
              <a:gd name="adj" fmla="val 2143"/>
            </a:avLst>
          </a:prstGeom>
          <a:solidFill>
            <a:srgbClr val="FFFFFF"/>
          </a:solidFill>
          <a:ln w="9525">
            <a:solidFill>
              <a:srgbClr val="CBD5E1"/>
            </a:solidFill>
            <a:prstDash val="solid"/>
          </a:ln>
        </p:spPr>
      </p:sp>
      <p:sp>
        <p:nvSpPr>
          <p:cNvPr id="17" name="Shape 14"/>
          <p:cNvSpPr/>
          <p:nvPr/>
        </p:nvSpPr>
        <p:spPr>
          <a:xfrm>
            <a:off x="3291840" y="1325880"/>
            <a:ext cx="2560320" cy="411480"/>
          </a:xfrm>
          <a:prstGeom prst="rect">
            <a:avLst/>
          </a:prstGeom>
          <a:solidFill>
            <a:srgbClr val="0B1930"/>
          </a:solidFill>
          <a:ln/>
        </p:spPr>
      </p:sp>
      <p:sp>
        <p:nvSpPr>
          <p:cNvPr id="18" name="Text 15"/>
          <p:cNvSpPr/>
          <p:nvPr/>
        </p:nvSpPr>
        <p:spPr>
          <a:xfrm>
            <a:off x="3383280" y="1389888"/>
            <a:ext cx="2377440" cy="32004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ENDPOINT</a:t>
            </a:r>
            <a:endParaRPr lang="en-US" sz="850" dirty="0"/>
          </a:p>
        </p:txBody>
      </p:sp>
      <p:sp>
        <p:nvSpPr>
          <p:cNvPr id="19" name="Text 16"/>
          <p:cNvSpPr/>
          <p:nvPr/>
        </p:nvSpPr>
        <p:spPr>
          <a:xfrm>
            <a:off x="3429000" y="1874520"/>
            <a:ext cx="2286000" cy="713232"/>
          </a:xfrm>
          <a:prstGeom prst="rect">
            <a:avLst/>
          </a:prstGeom>
          <a:noFill/>
          <a:ln/>
        </p:spPr>
        <p:txBody>
          <a:bodyPr wrap="square" rtlCol="0" anchor="ctr"/>
          <a:lstStyle/>
          <a:p>
            <a:pPr indent="0" marL="0">
              <a:lnSpc>
                <a:spcPts val="1200"/>
              </a:lnSpc>
              <a:buNone/>
            </a:pPr>
            <a:r>
              <a:rPr lang="en-US" sz="800" dirty="0">
                <a:solidFill>
                  <a:srgbClr val="1E293B"/>
                </a:solidFill>
                <a:latin typeface="Arial" pitchFamily="34" charset="0"/>
                <a:ea typeface="Arial" pitchFamily="34" charset="-122"/>
                <a:cs typeface="Arial" pitchFamily="34" charset="-120"/>
              </a:rPr>
              <a:t>• File alert: nfsvc.exe execution in system directories</a:t>
            </a:r>
            <a:endParaRPr lang="en-US" sz="800" dirty="0"/>
          </a:p>
        </p:txBody>
      </p:sp>
      <p:sp>
        <p:nvSpPr>
          <p:cNvPr id="20" name="Text 17"/>
          <p:cNvSpPr/>
          <p:nvPr/>
        </p:nvSpPr>
        <p:spPr>
          <a:xfrm>
            <a:off x="3429000" y="2651760"/>
            <a:ext cx="2286000" cy="713232"/>
          </a:xfrm>
          <a:prstGeom prst="rect">
            <a:avLst/>
          </a:prstGeom>
          <a:noFill/>
          <a:ln/>
        </p:spPr>
        <p:txBody>
          <a:bodyPr wrap="square" rtlCol="0" anchor="ctr"/>
          <a:lstStyle/>
          <a:p>
            <a:pPr indent="0" marL="0">
              <a:lnSpc>
                <a:spcPts val="1200"/>
              </a:lnSpc>
              <a:buNone/>
            </a:pPr>
            <a:r>
              <a:rPr lang="en-US" sz="800" dirty="0">
                <a:solidFill>
                  <a:srgbClr val="1E293B"/>
                </a:solidFill>
                <a:latin typeface="Arial" pitchFamily="34" charset="0"/>
                <a:ea typeface="Arial" pitchFamily="34" charset="-122"/>
                <a:cs typeface="Arial" pitchFamily="34" charset="-120"/>
              </a:rPr>
              <a:t>• DLL alert: unauthorized loading of ogupdate.dll</a:t>
            </a:r>
            <a:endParaRPr lang="en-US" sz="800" dirty="0"/>
          </a:p>
        </p:txBody>
      </p:sp>
      <p:sp>
        <p:nvSpPr>
          <p:cNvPr id="21" name="Text 18"/>
          <p:cNvSpPr/>
          <p:nvPr/>
        </p:nvSpPr>
        <p:spPr>
          <a:xfrm>
            <a:off x="3429000" y="3429000"/>
            <a:ext cx="2286000" cy="713232"/>
          </a:xfrm>
          <a:prstGeom prst="rect">
            <a:avLst/>
          </a:prstGeom>
          <a:noFill/>
          <a:ln/>
        </p:spPr>
        <p:txBody>
          <a:bodyPr wrap="square" rtlCol="0" anchor="ctr"/>
          <a:lstStyle/>
          <a:p>
            <a:pPr indent="0" marL="0">
              <a:lnSpc>
                <a:spcPts val="1200"/>
              </a:lnSpc>
              <a:buNone/>
            </a:pPr>
            <a:r>
              <a:rPr lang="en-US" sz="800" dirty="0">
                <a:solidFill>
                  <a:srgbClr val="1E293B"/>
                </a:solidFill>
                <a:latin typeface="Arial" pitchFamily="34" charset="0"/>
                <a:ea typeface="Arial" pitchFamily="34" charset="-122"/>
                <a:cs typeface="Arial" pitchFamily="34" charset="-120"/>
              </a:rPr>
              <a:t>• Service alert: persistence creation via OGUpdateService</a:t>
            </a:r>
            <a:endParaRPr lang="en-US" sz="800" dirty="0"/>
          </a:p>
        </p:txBody>
      </p:sp>
      <p:sp>
        <p:nvSpPr>
          <p:cNvPr id="22" name="Shape 19"/>
          <p:cNvSpPr/>
          <p:nvPr/>
        </p:nvSpPr>
        <p:spPr>
          <a:xfrm>
            <a:off x="6035040" y="1325880"/>
            <a:ext cx="2560320" cy="3017520"/>
          </a:xfrm>
          <a:prstGeom prst="roundRect">
            <a:avLst>
              <a:gd name="adj" fmla="val 2143"/>
            </a:avLst>
          </a:prstGeom>
          <a:solidFill>
            <a:srgbClr val="FFFFFF"/>
          </a:solidFill>
          <a:ln w="9525">
            <a:solidFill>
              <a:srgbClr val="CBD5E1"/>
            </a:solidFill>
            <a:prstDash val="solid"/>
          </a:ln>
        </p:spPr>
      </p:sp>
      <p:sp>
        <p:nvSpPr>
          <p:cNvPr id="23" name="Shape 20"/>
          <p:cNvSpPr/>
          <p:nvPr/>
        </p:nvSpPr>
        <p:spPr>
          <a:xfrm>
            <a:off x="6035040" y="1325880"/>
            <a:ext cx="2560320" cy="411480"/>
          </a:xfrm>
          <a:prstGeom prst="rect">
            <a:avLst/>
          </a:prstGeom>
          <a:solidFill>
            <a:srgbClr val="0B1930"/>
          </a:solidFill>
          <a:ln/>
        </p:spPr>
      </p:sp>
      <p:sp>
        <p:nvSpPr>
          <p:cNvPr id="24" name="Text 21"/>
          <p:cNvSpPr/>
          <p:nvPr/>
        </p:nvSpPr>
        <p:spPr>
          <a:xfrm>
            <a:off x="6126480" y="1389888"/>
            <a:ext cx="2377440" cy="32004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LOGS</a:t>
            </a:r>
            <a:endParaRPr lang="en-US" sz="850" dirty="0"/>
          </a:p>
        </p:txBody>
      </p:sp>
      <p:sp>
        <p:nvSpPr>
          <p:cNvPr id="25" name="Text 22"/>
          <p:cNvSpPr/>
          <p:nvPr/>
        </p:nvSpPr>
        <p:spPr>
          <a:xfrm>
            <a:off x="6172200" y="1874520"/>
            <a:ext cx="2286000" cy="713232"/>
          </a:xfrm>
          <a:prstGeom prst="rect">
            <a:avLst/>
          </a:prstGeom>
          <a:noFill/>
          <a:ln/>
        </p:spPr>
        <p:txBody>
          <a:bodyPr wrap="square" rtlCol="0" anchor="ctr"/>
          <a:lstStyle/>
          <a:p>
            <a:pPr indent="0" marL="0">
              <a:lnSpc>
                <a:spcPts val="1200"/>
              </a:lnSpc>
              <a:buNone/>
            </a:pPr>
            <a:r>
              <a:rPr lang="en-US" sz="800" dirty="0">
                <a:solidFill>
                  <a:srgbClr val="1E293B"/>
                </a:solidFill>
                <a:latin typeface="Arial" pitchFamily="34" charset="0"/>
                <a:ea typeface="Arial" pitchFamily="34" charset="-122"/>
                <a:cs typeface="Arial" pitchFamily="34" charset="-120"/>
              </a:rPr>
              <a:t>• Web logs: Inspect /api/v1/auth/gateway for HTTP 500 errors</a:t>
            </a:r>
            <a:endParaRPr lang="en-US" sz="800" dirty="0"/>
          </a:p>
        </p:txBody>
      </p:sp>
      <p:sp>
        <p:nvSpPr>
          <p:cNvPr id="26" name="Text 23"/>
          <p:cNvSpPr/>
          <p:nvPr/>
        </p:nvSpPr>
        <p:spPr>
          <a:xfrm>
            <a:off x="6172200" y="2651760"/>
            <a:ext cx="2286000" cy="713232"/>
          </a:xfrm>
          <a:prstGeom prst="rect">
            <a:avLst/>
          </a:prstGeom>
          <a:noFill/>
          <a:ln/>
        </p:spPr>
        <p:txBody>
          <a:bodyPr wrap="square" rtlCol="0" anchor="ctr"/>
          <a:lstStyle/>
          <a:p>
            <a:pPr indent="0" marL="0">
              <a:lnSpc>
                <a:spcPts val="1200"/>
              </a:lnSpc>
              <a:buNone/>
            </a:pPr>
            <a:r>
              <a:rPr lang="en-US" sz="800" dirty="0">
                <a:solidFill>
                  <a:srgbClr val="1E293B"/>
                </a:solidFill>
                <a:latin typeface="Arial" pitchFamily="34" charset="0"/>
                <a:ea typeface="Arial" pitchFamily="34" charset="-122"/>
                <a:cs typeface="Arial" pitchFamily="34" charset="-120"/>
              </a:rPr>
              <a:t>• Authentication logs: Monitor anomalous admin logins</a:t>
            </a:r>
            <a:endParaRPr lang="en-US" sz="800" dirty="0"/>
          </a:p>
        </p:txBody>
      </p:sp>
      <p:sp>
        <p:nvSpPr>
          <p:cNvPr id="27" name="Text 24"/>
          <p:cNvSpPr/>
          <p:nvPr/>
        </p:nvSpPr>
        <p:spPr>
          <a:xfrm>
            <a:off x="6172200" y="3429000"/>
            <a:ext cx="2286000" cy="713232"/>
          </a:xfrm>
          <a:prstGeom prst="rect">
            <a:avLst/>
          </a:prstGeom>
          <a:noFill/>
          <a:ln/>
        </p:spPr>
        <p:txBody>
          <a:bodyPr wrap="square" rtlCol="0" anchor="ctr"/>
          <a:lstStyle/>
          <a:p>
            <a:pPr indent="0" marL="0">
              <a:lnSpc>
                <a:spcPts val="1200"/>
              </a:lnSpc>
              <a:buNone/>
            </a:pPr>
            <a:r>
              <a:rPr lang="en-US" sz="800" dirty="0">
                <a:solidFill>
                  <a:srgbClr val="1E293B"/>
                </a:solidFill>
                <a:latin typeface="Arial" pitchFamily="34" charset="0"/>
                <a:ea typeface="Arial" pitchFamily="34" charset="-122"/>
                <a:cs typeface="Arial" pitchFamily="34" charset="-120"/>
              </a:rPr>
              <a:t>• Firewall / Proxy logs: Audit all perimeter outbound sessions</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hape 0"/>
          <p:cNvSpPr/>
          <p:nvPr/>
        </p:nvSpPr>
        <p:spPr>
          <a:xfrm>
            <a:off x="548640" y="4572000"/>
            <a:ext cx="8046720" cy="18288"/>
          </a:xfrm>
          <a:prstGeom prst="rect">
            <a:avLst/>
          </a:prstGeom>
          <a:solidFill>
            <a:srgbClr val="CBD5E1"/>
          </a:solidFill>
          <a:ln w="12700">
            <a:solidFill>
              <a:srgbClr val="CBD5E1"/>
            </a:solidFill>
            <a:prstDash val="solid"/>
          </a:ln>
        </p:spPr>
      </p:sp>
      <p:sp>
        <p:nvSpPr>
          <p:cNvPr id="4" name="Text 1"/>
          <p:cNvSpPr/>
          <p:nvPr/>
        </p:nvSpPr>
        <p:spPr>
          <a:xfrm>
            <a:off x="548640" y="4663440"/>
            <a:ext cx="5486400" cy="27432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TRANSFORMAI GROUNDED INTELLIGENCE ENGINE  |  ADVISORY ID: TAI-ADV-2026-88421</a:t>
            </a:r>
            <a:endParaRPr lang="en-US" sz="800" dirty="0"/>
          </a:p>
        </p:txBody>
      </p:sp>
      <p:sp>
        <p:nvSpPr>
          <p:cNvPr id="5" name="Text 2"/>
          <p:cNvSpPr/>
          <p:nvPr/>
        </p:nvSpPr>
        <p:spPr>
          <a:xfrm>
            <a:off x="6035040" y="4663440"/>
            <a:ext cx="2560320" cy="274320"/>
          </a:xfrm>
          <a:prstGeom prst="rect">
            <a:avLst/>
          </a:prstGeom>
          <a:noFill/>
          <a:ln/>
        </p:spPr>
        <p:txBody>
          <a:bodyPr wrap="square" rtlCol="0" anchor="ctr"/>
          <a:lstStyle/>
          <a:p>
            <a:pPr algn="r" indent="0" marL="0">
              <a:buNone/>
            </a:pPr>
            <a:r>
              <a:rPr lang="en-US" sz="800" b="1" dirty="0">
                <a:solidFill>
                  <a:srgbClr val="64748B"/>
                </a:solidFill>
                <a:latin typeface="Arial" pitchFamily="34" charset="0"/>
                <a:ea typeface="Arial" pitchFamily="34" charset="-122"/>
                <a:cs typeface="Arial" pitchFamily="34" charset="-120"/>
              </a:rPr>
              <a:t>TLP:AMBER+STRICT  |  SLIDE 10 OF 11</a:t>
            </a:r>
            <a:endParaRPr lang="en-US" sz="800" dirty="0"/>
          </a:p>
        </p:txBody>
      </p:sp>
      <p:sp>
        <p:nvSpPr>
          <p:cNvPr id="6" name="Text 3"/>
          <p:cNvSpPr/>
          <p:nvPr/>
        </p:nvSpPr>
        <p:spPr>
          <a:xfrm>
            <a:off x="5943600" y="320040"/>
            <a:ext cx="2651760" cy="256032"/>
          </a:xfrm>
          <a:prstGeom prst="rect">
            <a:avLst/>
          </a:prstGeom>
          <a:noFill/>
          <a:ln/>
        </p:spPr>
        <p:txBody>
          <a:bodyPr wrap="square" rtlCol="0" anchor="ctr"/>
          <a:lstStyle/>
          <a:p>
            <a:pPr algn="r" indent="0" marL="0">
              <a:buNone/>
            </a:pPr>
            <a:r>
              <a:rPr lang="en-US" sz="800" i="1" dirty="0">
                <a:solidFill>
                  <a:srgbClr val="64748B"/>
                </a:solidFill>
                <a:latin typeface="Arial" pitchFamily="34" charset="0"/>
                <a:ea typeface="Arial" pitchFamily="34" charset="-122"/>
                <a:cs typeface="Arial" pitchFamily="34" charset="-120"/>
              </a:rPr>
              <a:t>Source: TAI-ADV-2026-88421, Section 10</a:t>
            </a:r>
            <a:endParaRPr lang="en-US" sz="800" dirty="0"/>
          </a:p>
        </p:txBody>
      </p:sp>
      <p:sp>
        <p:nvSpPr>
          <p:cNvPr id="7" name="Text 4"/>
          <p:cNvSpPr/>
          <p:nvPr/>
        </p:nvSpPr>
        <p:spPr>
          <a:xfrm>
            <a:off x="548640" y="320040"/>
            <a:ext cx="4114800" cy="228600"/>
          </a:xfrm>
          <a:prstGeom prst="rect">
            <a:avLst/>
          </a:prstGeom>
          <a:noFill/>
          <a:ln/>
        </p:spPr>
        <p:txBody>
          <a:bodyPr wrap="square" rtlCol="0" anchor="ctr"/>
          <a:lstStyle/>
          <a:p>
            <a:pPr indent="0" marL="0">
              <a:buNone/>
            </a:pPr>
            <a:r>
              <a:rPr lang="en-US" sz="800" b="1" dirty="0">
                <a:solidFill>
                  <a:srgbClr val="1E3A8A"/>
                </a:solidFill>
                <a:latin typeface="Arial" pitchFamily="34" charset="0"/>
                <a:ea typeface="Arial" pitchFamily="34" charset="-122"/>
                <a:cs typeface="Arial" pitchFamily="34" charset="-120"/>
              </a:rPr>
              <a:t>RESPONSE FRAMEWORK</a:t>
            </a:r>
            <a:endParaRPr lang="en-US" sz="800" dirty="0"/>
          </a:p>
        </p:txBody>
      </p:sp>
      <p:sp>
        <p:nvSpPr>
          <p:cNvPr id="8" name="Text 5"/>
          <p:cNvSpPr/>
          <p:nvPr/>
        </p:nvSpPr>
        <p:spPr>
          <a:xfrm>
            <a:off x="548640" y="548640"/>
            <a:ext cx="7772400" cy="411480"/>
          </a:xfrm>
          <a:prstGeom prst="rect">
            <a:avLst/>
          </a:prstGeom>
          <a:noFill/>
          <a:ln/>
        </p:spPr>
        <p:txBody>
          <a:bodyPr wrap="square" rtlCol="0" anchor="ctr"/>
          <a:lstStyle/>
          <a:p>
            <a:pPr indent="0" marL="0">
              <a:buNone/>
            </a:pPr>
            <a:r>
              <a:rPr lang="en-US" sz="2000" b="1" dirty="0">
                <a:solidFill>
                  <a:srgbClr val="0B1930"/>
                </a:solidFill>
                <a:latin typeface="Arial" pitchFamily="34" charset="0"/>
                <a:ea typeface="Arial" pitchFamily="34" charset="-122"/>
                <a:cs typeface="Arial" pitchFamily="34" charset="-120"/>
              </a:rPr>
              <a:t>Response &amp; Remediation</a:t>
            </a:r>
            <a:endParaRPr lang="en-US" sz="2000" dirty="0"/>
          </a:p>
        </p:txBody>
      </p:sp>
      <p:sp>
        <p:nvSpPr>
          <p:cNvPr id="9" name="Text 6"/>
          <p:cNvSpPr/>
          <p:nvPr/>
        </p:nvSpPr>
        <p:spPr>
          <a:xfrm>
            <a:off x="548640" y="960120"/>
            <a:ext cx="77724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Prioritized Action Framework Across Immediate, Medium, and Long-Term Tiers</a:t>
            </a:r>
            <a:endParaRPr lang="en-US" sz="1000" dirty="0"/>
          </a:p>
        </p:txBody>
      </p:sp>
      <p:sp>
        <p:nvSpPr>
          <p:cNvPr id="10" name="Shape 7"/>
          <p:cNvSpPr/>
          <p:nvPr/>
        </p:nvSpPr>
        <p:spPr>
          <a:xfrm>
            <a:off x="548640" y="1325880"/>
            <a:ext cx="8046720" cy="960120"/>
          </a:xfrm>
          <a:prstGeom prst="roundRect">
            <a:avLst>
              <a:gd name="adj" fmla="val 4762"/>
            </a:avLst>
          </a:prstGeom>
          <a:solidFill>
            <a:srgbClr val="FFFFFF"/>
          </a:solidFill>
          <a:ln w="9525">
            <a:solidFill>
              <a:srgbClr val="CBD5E1"/>
            </a:solidFill>
            <a:prstDash val="solid"/>
          </a:ln>
        </p:spPr>
      </p:sp>
      <p:sp>
        <p:nvSpPr>
          <p:cNvPr id="11" name="Shape 8"/>
          <p:cNvSpPr/>
          <p:nvPr/>
        </p:nvSpPr>
        <p:spPr>
          <a:xfrm>
            <a:off x="548640" y="1325880"/>
            <a:ext cx="2011680" cy="960120"/>
          </a:xfrm>
          <a:prstGeom prst="rect">
            <a:avLst/>
          </a:prstGeom>
          <a:solidFill>
            <a:srgbClr val="FEE2E2"/>
          </a:solidFill>
          <a:ln/>
        </p:spPr>
      </p:sp>
      <p:sp>
        <p:nvSpPr>
          <p:cNvPr id="12" name="Text 9"/>
          <p:cNvSpPr/>
          <p:nvPr/>
        </p:nvSpPr>
        <p:spPr>
          <a:xfrm>
            <a:off x="640080" y="1463040"/>
            <a:ext cx="1828800" cy="320040"/>
          </a:xfrm>
          <a:prstGeom prst="rect">
            <a:avLst/>
          </a:prstGeom>
          <a:noFill/>
          <a:ln/>
        </p:spPr>
        <p:txBody>
          <a:bodyPr wrap="square" rtlCol="0" anchor="ctr"/>
          <a:lstStyle/>
          <a:p>
            <a:pPr indent="0" marL="0">
              <a:buNone/>
            </a:pPr>
            <a:r>
              <a:rPr lang="en-US" sz="1000" b="1" dirty="0">
                <a:solidFill>
                  <a:srgbClr val="991B1B"/>
                </a:solidFill>
                <a:latin typeface="Arial" pitchFamily="34" charset="0"/>
                <a:ea typeface="Arial" pitchFamily="34" charset="-122"/>
                <a:cs typeface="Arial" pitchFamily="34" charset="-120"/>
              </a:rPr>
              <a:t>IMMEDIATE (P0)</a:t>
            </a:r>
            <a:endParaRPr lang="en-US" sz="1000" dirty="0"/>
          </a:p>
        </p:txBody>
      </p:sp>
      <p:sp>
        <p:nvSpPr>
          <p:cNvPr id="13" name="Text 10"/>
          <p:cNvSpPr/>
          <p:nvPr/>
        </p:nvSpPr>
        <p:spPr>
          <a:xfrm>
            <a:off x="640080" y="1783080"/>
            <a:ext cx="1828800" cy="411480"/>
          </a:xfrm>
          <a:prstGeom prst="rect">
            <a:avLst/>
          </a:prstGeom>
          <a:noFill/>
          <a:ln/>
        </p:spPr>
        <p:txBody>
          <a:bodyPr wrap="square" rtlCol="0" anchor="ctr"/>
          <a:lstStyle/>
          <a:p>
            <a:pPr indent="0" marL="0">
              <a:buNone/>
            </a:pPr>
            <a:r>
              <a:rPr lang="en-US" sz="750" b="1" dirty="0">
                <a:solidFill>
                  <a:srgbClr val="64748B"/>
                </a:solidFill>
                <a:latin typeface="Arial" pitchFamily="34" charset="0"/>
                <a:ea typeface="Arial" pitchFamily="34" charset="-122"/>
                <a:cs typeface="Arial" pitchFamily="34" charset="-120"/>
              </a:rPr>
              <a:t>0 - 24 HOURS</a:t>
            </a:r>
            <a:endParaRPr lang="en-US" sz="750" dirty="0"/>
          </a:p>
        </p:txBody>
      </p:sp>
      <p:sp>
        <p:nvSpPr>
          <p:cNvPr id="14" name="Text 11"/>
          <p:cNvSpPr/>
          <p:nvPr/>
        </p:nvSpPr>
        <p:spPr>
          <a:xfrm>
            <a:off x="2651760" y="1417320"/>
            <a:ext cx="2880360" cy="365760"/>
          </a:xfrm>
          <a:prstGeom prst="rect">
            <a:avLst/>
          </a:prstGeom>
          <a:noFill/>
          <a:ln/>
        </p:spPr>
        <p:txBody>
          <a:bodyPr wrap="square" rtlCol="0" anchor="ctr"/>
          <a:lstStyle/>
          <a:p>
            <a:pPr indent="0" marL="0">
              <a:lnSpc>
                <a:spcPts val="1100"/>
              </a:lnSpc>
              <a:buNone/>
            </a:pPr>
            <a:r>
              <a:rPr lang="en-US" sz="780" dirty="0">
                <a:solidFill>
                  <a:srgbClr val="1E293B"/>
                </a:solidFill>
                <a:latin typeface="Arial" pitchFamily="34" charset="0"/>
                <a:ea typeface="Arial" pitchFamily="34" charset="-122"/>
                <a:cs typeface="Arial" pitchFamily="34" charset="-120"/>
              </a:rPr>
              <a:t>• Restrict external access to OrionGate administration interfaces.</a:t>
            </a:r>
            <a:endParaRPr lang="en-US" sz="780" dirty="0"/>
          </a:p>
        </p:txBody>
      </p:sp>
      <p:sp>
        <p:nvSpPr>
          <p:cNvPr id="15" name="Text 12"/>
          <p:cNvSpPr/>
          <p:nvPr/>
        </p:nvSpPr>
        <p:spPr>
          <a:xfrm>
            <a:off x="5623560" y="1417320"/>
            <a:ext cx="2880360" cy="365760"/>
          </a:xfrm>
          <a:prstGeom prst="rect">
            <a:avLst/>
          </a:prstGeom>
          <a:noFill/>
          <a:ln/>
        </p:spPr>
        <p:txBody>
          <a:bodyPr wrap="square" rtlCol="0" anchor="ctr"/>
          <a:lstStyle/>
          <a:p>
            <a:pPr indent="0" marL="0">
              <a:lnSpc>
                <a:spcPts val="1100"/>
              </a:lnSpc>
              <a:buNone/>
            </a:pPr>
            <a:r>
              <a:rPr lang="en-US" sz="780" dirty="0">
                <a:solidFill>
                  <a:srgbClr val="1E293B"/>
                </a:solidFill>
                <a:latin typeface="Arial" pitchFamily="34" charset="0"/>
                <a:ea typeface="Arial" pitchFamily="34" charset="-122"/>
                <a:cs typeface="Arial" pitchFamily="34" charset="-120"/>
              </a:rPr>
              <a:t>• Investigate IOCs across host logs and network telemetry.</a:t>
            </a:r>
            <a:endParaRPr lang="en-US" sz="780" dirty="0"/>
          </a:p>
        </p:txBody>
      </p:sp>
      <p:sp>
        <p:nvSpPr>
          <p:cNvPr id="16" name="Text 13"/>
          <p:cNvSpPr/>
          <p:nvPr/>
        </p:nvSpPr>
        <p:spPr>
          <a:xfrm>
            <a:off x="2651760" y="1828800"/>
            <a:ext cx="2880360" cy="365760"/>
          </a:xfrm>
          <a:prstGeom prst="rect">
            <a:avLst/>
          </a:prstGeom>
          <a:noFill/>
          <a:ln/>
        </p:spPr>
        <p:txBody>
          <a:bodyPr wrap="square" rtlCol="0" anchor="ctr"/>
          <a:lstStyle/>
          <a:p>
            <a:pPr indent="0" marL="0">
              <a:lnSpc>
                <a:spcPts val="1100"/>
              </a:lnSpc>
              <a:buNone/>
            </a:pPr>
            <a:r>
              <a:rPr lang="en-US" sz="780" dirty="0">
                <a:solidFill>
                  <a:srgbClr val="1E293B"/>
                </a:solidFill>
                <a:latin typeface="Arial" pitchFamily="34" charset="0"/>
                <a:ea typeface="Arial" pitchFamily="34" charset="-122"/>
                <a:cs typeface="Arial" pitchFamily="34" charset="-120"/>
              </a:rPr>
              <a:t>• Block malicious infrastructure (IPs 185.71.44.19, 91.203.18.77).</a:t>
            </a:r>
            <a:endParaRPr lang="en-US" sz="780" dirty="0"/>
          </a:p>
        </p:txBody>
      </p:sp>
      <p:sp>
        <p:nvSpPr>
          <p:cNvPr id="17" name="Text 14"/>
          <p:cNvSpPr/>
          <p:nvPr/>
        </p:nvSpPr>
        <p:spPr>
          <a:xfrm>
            <a:off x="5623560" y="1828800"/>
            <a:ext cx="2880360" cy="365760"/>
          </a:xfrm>
          <a:prstGeom prst="rect">
            <a:avLst/>
          </a:prstGeom>
          <a:noFill/>
          <a:ln/>
        </p:spPr>
        <p:txBody>
          <a:bodyPr wrap="square" rtlCol="0" anchor="ctr"/>
          <a:lstStyle/>
          <a:p>
            <a:pPr indent="0" marL="0">
              <a:lnSpc>
                <a:spcPts val="1100"/>
              </a:lnSpc>
              <a:buNone/>
            </a:pPr>
            <a:r>
              <a:rPr lang="en-US" sz="780" dirty="0">
                <a:solidFill>
                  <a:srgbClr val="1E293B"/>
                </a:solidFill>
                <a:latin typeface="Arial" pitchFamily="34" charset="0"/>
                <a:ea typeface="Arial" pitchFamily="34" charset="-122"/>
                <a:cs typeface="Arial" pitchFamily="34" charset="-120"/>
              </a:rPr>
              <a:t>• Isolate confirmed compromised hosts from internal subnets.</a:t>
            </a:r>
            <a:endParaRPr lang="en-US" sz="780" dirty="0"/>
          </a:p>
        </p:txBody>
      </p:sp>
      <p:sp>
        <p:nvSpPr>
          <p:cNvPr id="18" name="Shape 15"/>
          <p:cNvSpPr/>
          <p:nvPr/>
        </p:nvSpPr>
        <p:spPr>
          <a:xfrm>
            <a:off x="548640" y="2377440"/>
            <a:ext cx="8046720" cy="960120"/>
          </a:xfrm>
          <a:prstGeom prst="roundRect">
            <a:avLst>
              <a:gd name="adj" fmla="val 4762"/>
            </a:avLst>
          </a:prstGeom>
          <a:solidFill>
            <a:srgbClr val="FFFFFF"/>
          </a:solidFill>
          <a:ln w="9525">
            <a:solidFill>
              <a:srgbClr val="CBD5E1"/>
            </a:solidFill>
            <a:prstDash val="solid"/>
          </a:ln>
        </p:spPr>
      </p:sp>
      <p:sp>
        <p:nvSpPr>
          <p:cNvPr id="19" name="Shape 16"/>
          <p:cNvSpPr/>
          <p:nvPr/>
        </p:nvSpPr>
        <p:spPr>
          <a:xfrm>
            <a:off x="548640" y="2377440"/>
            <a:ext cx="2011680" cy="960120"/>
          </a:xfrm>
          <a:prstGeom prst="rect">
            <a:avLst/>
          </a:prstGeom>
          <a:solidFill>
            <a:srgbClr val="FEF3C7"/>
          </a:solidFill>
          <a:ln/>
        </p:spPr>
      </p:sp>
      <p:sp>
        <p:nvSpPr>
          <p:cNvPr id="20" name="Text 17"/>
          <p:cNvSpPr/>
          <p:nvPr/>
        </p:nvSpPr>
        <p:spPr>
          <a:xfrm>
            <a:off x="640080" y="2514600"/>
            <a:ext cx="1828800" cy="320040"/>
          </a:xfrm>
          <a:prstGeom prst="rect">
            <a:avLst/>
          </a:prstGeom>
          <a:noFill/>
          <a:ln/>
        </p:spPr>
        <p:txBody>
          <a:bodyPr wrap="square" rtlCol="0" anchor="ctr"/>
          <a:lstStyle/>
          <a:p>
            <a:pPr indent="0" marL="0">
              <a:buNone/>
            </a:pPr>
            <a:r>
              <a:rPr lang="en-US" sz="1000" b="1" dirty="0">
                <a:solidFill>
                  <a:srgbClr val="92400E"/>
                </a:solidFill>
                <a:latin typeface="Arial" pitchFamily="34" charset="0"/>
                <a:ea typeface="Arial" pitchFamily="34" charset="-122"/>
                <a:cs typeface="Arial" pitchFamily="34" charset="-120"/>
              </a:rPr>
              <a:t>24–72 HOURS (P1)</a:t>
            </a:r>
            <a:endParaRPr lang="en-US" sz="1000" dirty="0"/>
          </a:p>
        </p:txBody>
      </p:sp>
      <p:sp>
        <p:nvSpPr>
          <p:cNvPr id="21" name="Text 18"/>
          <p:cNvSpPr/>
          <p:nvPr/>
        </p:nvSpPr>
        <p:spPr>
          <a:xfrm>
            <a:off x="640080" y="2834640"/>
            <a:ext cx="1828800" cy="411480"/>
          </a:xfrm>
          <a:prstGeom prst="rect">
            <a:avLst/>
          </a:prstGeom>
          <a:noFill/>
          <a:ln/>
        </p:spPr>
        <p:txBody>
          <a:bodyPr wrap="square" rtlCol="0" anchor="ctr"/>
          <a:lstStyle/>
          <a:p>
            <a:pPr indent="0" marL="0">
              <a:buNone/>
            </a:pPr>
            <a:r>
              <a:rPr lang="en-US" sz="750" b="1" dirty="0">
                <a:solidFill>
                  <a:srgbClr val="64748B"/>
                </a:solidFill>
                <a:latin typeface="Arial" pitchFamily="34" charset="0"/>
                <a:ea typeface="Arial" pitchFamily="34" charset="-122"/>
                <a:cs typeface="Arial" pitchFamily="34" charset="-120"/>
              </a:rPr>
              <a:t>24 - 72 HOURS</a:t>
            </a:r>
            <a:endParaRPr lang="en-US" sz="750" dirty="0"/>
          </a:p>
        </p:txBody>
      </p:sp>
      <p:sp>
        <p:nvSpPr>
          <p:cNvPr id="22" name="Text 19"/>
          <p:cNvSpPr/>
          <p:nvPr/>
        </p:nvSpPr>
        <p:spPr>
          <a:xfrm>
            <a:off x="2651760" y="2468880"/>
            <a:ext cx="2880360" cy="365760"/>
          </a:xfrm>
          <a:prstGeom prst="rect">
            <a:avLst/>
          </a:prstGeom>
          <a:noFill/>
          <a:ln/>
        </p:spPr>
        <p:txBody>
          <a:bodyPr wrap="square" rtlCol="0" anchor="ctr"/>
          <a:lstStyle/>
          <a:p>
            <a:pPr indent="0" marL="0">
              <a:lnSpc>
                <a:spcPts val="1100"/>
              </a:lnSpc>
              <a:buNone/>
            </a:pPr>
            <a:r>
              <a:rPr lang="en-US" sz="780" dirty="0">
                <a:solidFill>
                  <a:srgbClr val="1E293B"/>
                </a:solidFill>
                <a:latin typeface="Arial" pitchFamily="34" charset="0"/>
                <a:ea typeface="Arial" pitchFamily="34" charset="-122"/>
                <a:cs typeface="Arial" pitchFamily="34" charset="-120"/>
              </a:rPr>
              <a:t>• Apply security updates and vendor-supplied emergency patches.</a:t>
            </a:r>
            <a:endParaRPr lang="en-US" sz="780" dirty="0"/>
          </a:p>
        </p:txBody>
      </p:sp>
      <p:sp>
        <p:nvSpPr>
          <p:cNvPr id="23" name="Text 20"/>
          <p:cNvSpPr/>
          <p:nvPr/>
        </p:nvSpPr>
        <p:spPr>
          <a:xfrm>
            <a:off x="5623560" y="2468880"/>
            <a:ext cx="2880360" cy="365760"/>
          </a:xfrm>
          <a:prstGeom prst="rect">
            <a:avLst/>
          </a:prstGeom>
          <a:noFill/>
          <a:ln/>
        </p:spPr>
        <p:txBody>
          <a:bodyPr wrap="square" rtlCol="0" anchor="ctr"/>
          <a:lstStyle/>
          <a:p>
            <a:pPr indent="0" marL="0">
              <a:lnSpc>
                <a:spcPts val="1100"/>
              </a:lnSpc>
              <a:buNone/>
            </a:pPr>
            <a:r>
              <a:rPr lang="en-US" sz="780" dirty="0">
                <a:solidFill>
                  <a:srgbClr val="1E293B"/>
                </a:solidFill>
                <a:latin typeface="Arial" pitchFamily="34" charset="0"/>
                <a:ea typeface="Arial" pitchFamily="34" charset="-122"/>
                <a:cs typeface="Arial" pitchFamily="34" charset="-120"/>
              </a:rPr>
              <a:t>• Review access controls, service accounts, and API credentials.</a:t>
            </a:r>
            <a:endParaRPr lang="en-US" sz="780" dirty="0"/>
          </a:p>
        </p:txBody>
      </p:sp>
      <p:sp>
        <p:nvSpPr>
          <p:cNvPr id="24" name="Text 21"/>
          <p:cNvSpPr/>
          <p:nvPr/>
        </p:nvSpPr>
        <p:spPr>
          <a:xfrm>
            <a:off x="2651760" y="2880360"/>
            <a:ext cx="2880360" cy="365760"/>
          </a:xfrm>
          <a:prstGeom prst="rect">
            <a:avLst/>
          </a:prstGeom>
          <a:noFill/>
          <a:ln/>
        </p:spPr>
        <p:txBody>
          <a:bodyPr wrap="square" rtlCol="0" anchor="ctr"/>
          <a:lstStyle/>
          <a:p>
            <a:pPr indent="0" marL="0">
              <a:lnSpc>
                <a:spcPts val="1100"/>
              </a:lnSpc>
              <a:buNone/>
            </a:pPr>
            <a:r>
              <a:rPr lang="en-US" sz="780" dirty="0">
                <a:solidFill>
                  <a:srgbClr val="1E293B"/>
                </a:solidFill>
                <a:latin typeface="Arial" pitchFamily="34" charset="0"/>
                <a:ea typeface="Arial" pitchFamily="34" charset="-122"/>
                <a:cs typeface="Arial" pitchFamily="34" charset="-120"/>
              </a:rPr>
              <a:t>• Strengthen monitoring on all internet-facing boundary devices.</a:t>
            </a:r>
            <a:endParaRPr lang="en-US" sz="780" dirty="0"/>
          </a:p>
        </p:txBody>
      </p:sp>
      <p:sp>
        <p:nvSpPr>
          <p:cNvPr id="25" name="Shape 22"/>
          <p:cNvSpPr/>
          <p:nvPr/>
        </p:nvSpPr>
        <p:spPr>
          <a:xfrm>
            <a:off x="548640" y="3429000"/>
            <a:ext cx="8046720" cy="960120"/>
          </a:xfrm>
          <a:prstGeom prst="roundRect">
            <a:avLst>
              <a:gd name="adj" fmla="val 4762"/>
            </a:avLst>
          </a:prstGeom>
          <a:solidFill>
            <a:srgbClr val="FFFFFF"/>
          </a:solidFill>
          <a:ln w="9525">
            <a:solidFill>
              <a:srgbClr val="CBD5E1"/>
            </a:solidFill>
            <a:prstDash val="solid"/>
          </a:ln>
        </p:spPr>
      </p:sp>
      <p:sp>
        <p:nvSpPr>
          <p:cNvPr id="26" name="Shape 23"/>
          <p:cNvSpPr/>
          <p:nvPr/>
        </p:nvSpPr>
        <p:spPr>
          <a:xfrm>
            <a:off x="548640" y="3429000"/>
            <a:ext cx="2011680" cy="960120"/>
          </a:xfrm>
          <a:prstGeom prst="rect">
            <a:avLst/>
          </a:prstGeom>
          <a:solidFill>
            <a:srgbClr val="EFF6FF"/>
          </a:solidFill>
          <a:ln/>
        </p:spPr>
      </p:sp>
      <p:sp>
        <p:nvSpPr>
          <p:cNvPr id="27" name="Text 24"/>
          <p:cNvSpPr/>
          <p:nvPr/>
        </p:nvSpPr>
        <p:spPr>
          <a:xfrm>
            <a:off x="640080" y="3566160"/>
            <a:ext cx="1828800" cy="320040"/>
          </a:xfrm>
          <a:prstGeom prst="rect">
            <a:avLst/>
          </a:prstGeom>
          <a:noFill/>
          <a:ln/>
        </p:spPr>
        <p:txBody>
          <a:bodyPr wrap="square" rtlCol="0" anchor="ctr"/>
          <a:lstStyle/>
          <a:p>
            <a:pPr indent="0" marL="0">
              <a:buNone/>
            </a:pPr>
            <a:r>
              <a:rPr lang="en-US" sz="1000" b="1" dirty="0">
                <a:solidFill>
                  <a:srgbClr val="1E3A8A"/>
                </a:solidFill>
                <a:latin typeface="Arial" pitchFamily="34" charset="0"/>
                <a:ea typeface="Arial" pitchFamily="34" charset="-122"/>
                <a:cs typeface="Arial" pitchFamily="34" charset="-120"/>
              </a:rPr>
              <a:t>LONG-TERM</a:t>
            </a:r>
            <a:endParaRPr lang="en-US" sz="1000" dirty="0"/>
          </a:p>
        </p:txBody>
      </p:sp>
      <p:sp>
        <p:nvSpPr>
          <p:cNvPr id="28" name="Text 25"/>
          <p:cNvSpPr/>
          <p:nvPr/>
        </p:nvSpPr>
        <p:spPr>
          <a:xfrm>
            <a:off x="640080" y="3886200"/>
            <a:ext cx="1828800" cy="411480"/>
          </a:xfrm>
          <a:prstGeom prst="rect">
            <a:avLst/>
          </a:prstGeom>
          <a:noFill/>
          <a:ln/>
        </p:spPr>
        <p:txBody>
          <a:bodyPr wrap="square" rtlCol="0" anchor="ctr"/>
          <a:lstStyle/>
          <a:p>
            <a:pPr indent="0" marL="0">
              <a:buNone/>
            </a:pPr>
            <a:r>
              <a:rPr lang="en-US" sz="750" b="1" dirty="0">
                <a:solidFill>
                  <a:srgbClr val="64748B"/>
                </a:solidFill>
                <a:latin typeface="Arial" pitchFamily="34" charset="0"/>
                <a:ea typeface="Arial" pitchFamily="34" charset="-122"/>
                <a:cs typeface="Arial" pitchFamily="34" charset="-120"/>
              </a:rPr>
              <a:t>STRATEGIC HARDENING</a:t>
            </a:r>
            <a:endParaRPr lang="en-US" sz="750" dirty="0"/>
          </a:p>
        </p:txBody>
      </p:sp>
      <p:sp>
        <p:nvSpPr>
          <p:cNvPr id="29" name="Text 26"/>
          <p:cNvSpPr/>
          <p:nvPr/>
        </p:nvSpPr>
        <p:spPr>
          <a:xfrm>
            <a:off x="2651760" y="3520440"/>
            <a:ext cx="2880360" cy="365760"/>
          </a:xfrm>
          <a:prstGeom prst="rect">
            <a:avLst/>
          </a:prstGeom>
          <a:noFill/>
          <a:ln/>
        </p:spPr>
        <p:txBody>
          <a:bodyPr wrap="square" rtlCol="0" anchor="ctr"/>
          <a:lstStyle/>
          <a:p>
            <a:pPr indent="0" marL="0">
              <a:lnSpc>
                <a:spcPts val="1100"/>
              </a:lnSpc>
              <a:buNone/>
            </a:pPr>
            <a:r>
              <a:rPr lang="en-US" sz="780" dirty="0">
                <a:solidFill>
                  <a:srgbClr val="1E293B"/>
                </a:solidFill>
                <a:latin typeface="Arial" pitchFamily="34" charset="0"/>
                <a:ea typeface="Arial" pitchFamily="34" charset="-122"/>
                <a:cs typeface="Arial" pitchFamily="34" charset="-120"/>
              </a:rPr>
              <a:t>• Implement network segmentation between edge gateways and core LAN.</a:t>
            </a:r>
            <a:endParaRPr lang="en-US" sz="780" dirty="0"/>
          </a:p>
        </p:txBody>
      </p:sp>
      <p:sp>
        <p:nvSpPr>
          <p:cNvPr id="30" name="Text 27"/>
          <p:cNvSpPr/>
          <p:nvPr/>
        </p:nvSpPr>
        <p:spPr>
          <a:xfrm>
            <a:off x="5623560" y="3520440"/>
            <a:ext cx="2880360" cy="365760"/>
          </a:xfrm>
          <a:prstGeom prst="rect">
            <a:avLst/>
          </a:prstGeom>
          <a:noFill/>
          <a:ln/>
        </p:spPr>
        <p:txBody>
          <a:bodyPr wrap="square" rtlCol="0" anchor="ctr"/>
          <a:lstStyle/>
          <a:p>
            <a:pPr indent="0" marL="0">
              <a:lnSpc>
                <a:spcPts val="1100"/>
              </a:lnSpc>
              <a:buNone/>
            </a:pPr>
            <a:r>
              <a:rPr lang="en-US" sz="780" dirty="0">
                <a:solidFill>
                  <a:srgbClr val="1E293B"/>
                </a:solidFill>
                <a:latin typeface="Arial" pitchFamily="34" charset="0"/>
                <a:ea typeface="Arial" pitchFamily="34" charset="-122"/>
                <a:cs typeface="Arial" pitchFamily="34" charset="-120"/>
              </a:rPr>
              <a:t>• Enforce continuous endpoint monitoring and behavioral EDR.</a:t>
            </a:r>
            <a:endParaRPr lang="en-US" sz="780" dirty="0"/>
          </a:p>
        </p:txBody>
      </p:sp>
      <p:sp>
        <p:nvSpPr>
          <p:cNvPr id="31" name="Text 28"/>
          <p:cNvSpPr/>
          <p:nvPr/>
        </p:nvSpPr>
        <p:spPr>
          <a:xfrm>
            <a:off x="2651760" y="3931920"/>
            <a:ext cx="2880360" cy="365760"/>
          </a:xfrm>
          <a:prstGeom prst="rect">
            <a:avLst/>
          </a:prstGeom>
          <a:noFill/>
          <a:ln/>
        </p:spPr>
        <p:txBody>
          <a:bodyPr wrap="square" rtlCol="0" anchor="ctr"/>
          <a:lstStyle/>
          <a:p>
            <a:pPr indent="0" marL="0">
              <a:lnSpc>
                <a:spcPts val="1100"/>
              </a:lnSpc>
              <a:buNone/>
            </a:pPr>
            <a:r>
              <a:rPr lang="en-US" sz="780" dirty="0">
                <a:solidFill>
                  <a:srgbClr val="1E293B"/>
                </a:solidFill>
                <a:latin typeface="Arial" pitchFamily="34" charset="0"/>
                <a:ea typeface="Arial" pitchFamily="34" charset="-122"/>
                <a:cs typeface="Arial" pitchFamily="34" charset="-120"/>
              </a:rPr>
              <a:t>• Conduct full architecture security hardening and credential resets.</a:t>
            </a:r>
            <a:endParaRPr lang="en-US" sz="7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Shape 0"/>
          <p:cNvSpPr/>
          <p:nvPr/>
        </p:nvSpPr>
        <p:spPr>
          <a:xfrm>
            <a:off x="548640" y="4572000"/>
            <a:ext cx="8046720" cy="18288"/>
          </a:xfrm>
          <a:prstGeom prst="rect">
            <a:avLst/>
          </a:prstGeom>
          <a:solidFill>
            <a:srgbClr val="CBD5E1"/>
          </a:solidFill>
          <a:ln w="12700">
            <a:solidFill>
              <a:srgbClr val="CBD5E1"/>
            </a:solidFill>
            <a:prstDash val="solid"/>
          </a:ln>
        </p:spPr>
      </p:sp>
      <p:sp>
        <p:nvSpPr>
          <p:cNvPr id="4" name="Text 1"/>
          <p:cNvSpPr/>
          <p:nvPr/>
        </p:nvSpPr>
        <p:spPr>
          <a:xfrm>
            <a:off x="548640" y="4663440"/>
            <a:ext cx="5486400" cy="27432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TRANSFORMAI GROUNDED INTELLIGENCE ENGINE  |  ADVISORY ID: TAI-ADV-2026-88421</a:t>
            </a:r>
            <a:endParaRPr lang="en-US" sz="800" dirty="0"/>
          </a:p>
        </p:txBody>
      </p:sp>
      <p:sp>
        <p:nvSpPr>
          <p:cNvPr id="5" name="Text 2"/>
          <p:cNvSpPr/>
          <p:nvPr/>
        </p:nvSpPr>
        <p:spPr>
          <a:xfrm>
            <a:off x="6035040" y="4663440"/>
            <a:ext cx="2560320" cy="274320"/>
          </a:xfrm>
          <a:prstGeom prst="rect">
            <a:avLst/>
          </a:prstGeom>
          <a:noFill/>
          <a:ln/>
        </p:spPr>
        <p:txBody>
          <a:bodyPr wrap="square" rtlCol="0" anchor="ctr"/>
          <a:lstStyle/>
          <a:p>
            <a:pPr algn="r" indent="0" marL="0">
              <a:buNone/>
            </a:pPr>
            <a:r>
              <a:rPr lang="en-US" sz="800" b="1" dirty="0">
                <a:solidFill>
                  <a:srgbClr val="64748B"/>
                </a:solidFill>
                <a:latin typeface="Arial" pitchFamily="34" charset="0"/>
                <a:ea typeface="Arial" pitchFamily="34" charset="-122"/>
                <a:cs typeface="Arial" pitchFamily="34" charset="-120"/>
              </a:rPr>
              <a:t>TLP:AMBER+STRICT  |  SLIDE 11 OF 11</a:t>
            </a:r>
            <a:endParaRPr lang="en-US" sz="800" dirty="0"/>
          </a:p>
        </p:txBody>
      </p:sp>
      <p:sp>
        <p:nvSpPr>
          <p:cNvPr id="6" name="Text 3"/>
          <p:cNvSpPr/>
          <p:nvPr/>
        </p:nvSpPr>
        <p:spPr>
          <a:xfrm>
            <a:off x="5943600" y="320040"/>
            <a:ext cx="2651760" cy="256032"/>
          </a:xfrm>
          <a:prstGeom prst="rect">
            <a:avLst/>
          </a:prstGeom>
          <a:noFill/>
          <a:ln/>
        </p:spPr>
        <p:txBody>
          <a:bodyPr wrap="square" rtlCol="0" anchor="ctr"/>
          <a:lstStyle/>
          <a:p>
            <a:pPr algn="r" indent="0" marL="0">
              <a:buNone/>
            </a:pPr>
            <a:r>
              <a:rPr lang="en-US" sz="800" i="1" dirty="0">
                <a:solidFill>
                  <a:srgbClr val="64748B"/>
                </a:solidFill>
                <a:latin typeface="Arial" pitchFamily="34" charset="0"/>
                <a:ea typeface="Arial" pitchFamily="34" charset="-122"/>
                <a:cs typeface="Arial" pitchFamily="34" charset="-120"/>
              </a:rPr>
              <a:t>Source: TAI-ADV-2026-88421, Section 11</a:t>
            </a:r>
            <a:endParaRPr lang="en-US" sz="800" dirty="0"/>
          </a:p>
        </p:txBody>
      </p:sp>
      <p:sp>
        <p:nvSpPr>
          <p:cNvPr id="7" name="Text 4"/>
          <p:cNvSpPr/>
          <p:nvPr/>
        </p:nvSpPr>
        <p:spPr>
          <a:xfrm>
            <a:off x="548640" y="320040"/>
            <a:ext cx="4114800" cy="228600"/>
          </a:xfrm>
          <a:prstGeom prst="rect">
            <a:avLst/>
          </a:prstGeom>
          <a:noFill/>
          <a:ln/>
        </p:spPr>
        <p:txBody>
          <a:bodyPr wrap="square" rtlCol="0" anchor="ctr"/>
          <a:lstStyle/>
          <a:p>
            <a:pPr indent="0" marL="0">
              <a:buNone/>
            </a:pPr>
            <a:r>
              <a:rPr lang="en-US" sz="800" b="1" dirty="0">
                <a:solidFill>
                  <a:srgbClr val="1E3A8A"/>
                </a:solidFill>
                <a:latin typeface="Arial" pitchFamily="34" charset="0"/>
                <a:ea typeface="Arial" pitchFamily="34" charset="-122"/>
                <a:cs typeface="Arial" pitchFamily="34" charset="-120"/>
              </a:rPr>
              <a:t>DECISION SUMMARY</a:t>
            </a:r>
            <a:endParaRPr lang="en-US" sz="800" dirty="0"/>
          </a:p>
        </p:txBody>
      </p:sp>
      <p:sp>
        <p:nvSpPr>
          <p:cNvPr id="8" name="Text 5"/>
          <p:cNvSpPr/>
          <p:nvPr/>
        </p:nvSpPr>
        <p:spPr>
          <a:xfrm>
            <a:off x="548640" y="548640"/>
            <a:ext cx="7772400" cy="411480"/>
          </a:xfrm>
          <a:prstGeom prst="rect">
            <a:avLst/>
          </a:prstGeom>
          <a:noFill/>
          <a:ln/>
        </p:spPr>
        <p:txBody>
          <a:bodyPr wrap="square" rtlCol="0" anchor="ctr"/>
          <a:lstStyle/>
          <a:p>
            <a:pPr indent="0" marL="0">
              <a:buNone/>
            </a:pPr>
            <a:r>
              <a:rPr lang="en-US" sz="2000" b="1" dirty="0">
                <a:solidFill>
                  <a:srgbClr val="0B1930"/>
                </a:solidFill>
                <a:latin typeface="Arial" pitchFamily="34" charset="0"/>
                <a:ea typeface="Arial" pitchFamily="34" charset="-122"/>
                <a:cs typeface="Arial" pitchFamily="34" charset="-120"/>
              </a:rPr>
              <a:t>Key Takeaways</a:t>
            </a:r>
            <a:endParaRPr lang="en-US" sz="2000" dirty="0"/>
          </a:p>
        </p:txBody>
      </p:sp>
      <p:sp>
        <p:nvSpPr>
          <p:cNvPr id="9" name="Text 6"/>
          <p:cNvSpPr/>
          <p:nvPr/>
        </p:nvSpPr>
        <p:spPr>
          <a:xfrm>
            <a:off x="548640" y="960120"/>
            <a:ext cx="777240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Strategic Summary, Threat Verdict, and Operational Directives</a:t>
            </a:r>
            <a:endParaRPr lang="en-US" sz="1000" dirty="0"/>
          </a:p>
        </p:txBody>
      </p:sp>
      <p:sp>
        <p:nvSpPr>
          <p:cNvPr id="10" name="Shape 7"/>
          <p:cNvSpPr/>
          <p:nvPr/>
        </p:nvSpPr>
        <p:spPr>
          <a:xfrm>
            <a:off x="548640" y="1325880"/>
            <a:ext cx="3931920" cy="960120"/>
          </a:xfrm>
          <a:prstGeom prst="roundRect">
            <a:avLst>
              <a:gd name="adj" fmla="val 5714"/>
            </a:avLst>
          </a:prstGeom>
          <a:solidFill>
            <a:srgbClr val="FFFFFF"/>
          </a:solidFill>
          <a:ln w="9525">
            <a:solidFill>
              <a:srgbClr val="CBD5E1"/>
            </a:solidFill>
            <a:prstDash val="solid"/>
          </a:ln>
        </p:spPr>
      </p:sp>
      <p:sp>
        <p:nvSpPr>
          <p:cNvPr id="11" name="Text 8"/>
          <p:cNvSpPr/>
          <p:nvPr/>
        </p:nvSpPr>
        <p:spPr>
          <a:xfrm>
            <a:off x="685800" y="1417320"/>
            <a:ext cx="3657600" cy="201168"/>
          </a:xfrm>
          <a:prstGeom prst="rect">
            <a:avLst/>
          </a:prstGeom>
          <a:noFill/>
          <a:ln/>
        </p:spPr>
        <p:txBody>
          <a:bodyPr wrap="square" rtlCol="0" anchor="ctr"/>
          <a:lstStyle/>
          <a:p>
            <a:pPr indent="0" marL="0">
              <a:buNone/>
            </a:pPr>
            <a:r>
              <a:rPr lang="en-US" sz="800" b="1" dirty="0">
                <a:solidFill>
                  <a:srgbClr val="1E3A8A"/>
                </a:solidFill>
                <a:latin typeface="Arial" pitchFamily="34" charset="0"/>
                <a:ea typeface="Arial" pitchFamily="34" charset="-122"/>
                <a:cs typeface="Arial" pitchFamily="34" charset="-120"/>
              </a:rPr>
              <a:t>THREAT</a:t>
            </a:r>
            <a:endParaRPr lang="en-US" sz="800" dirty="0"/>
          </a:p>
        </p:txBody>
      </p:sp>
      <p:sp>
        <p:nvSpPr>
          <p:cNvPr id="12" name="Text 9"/>
          <p:cNvSpPr/>
          <p:nvPr/>
        </p:nvSpPr>
        <p:spPr>
          <a:xfrm>
            <a:off x="685800" y="1618488"/>
            <a:ext cx="3657600" cy="274320"/>
          </a:xfrm>
          <a:prstGeom prst="rect">
            <a:avLst/>
          </a:prstGeom>
          <a:noFill/>
          <a:ln/>
        </p:spPr>
        <p:txBody>
          <a:bodyPr wrap="square" rtlCol="0" anchor="ctr"/>
          <a:lstStyle/>
          <a:p>
            <a:pPr indent="0" marL="0">
              <a:buNone/>
            </a:pPr>
            <a:r>
              <a:rPr lang="en-US" sz="1050" b="1" dirty="0">
                <a:solidFill>
                  <a:srgbClr val="0B1930"/>
                </a:solidFill>
                <a:latin typeface="Arial" pitchFamily="34" charset="0"/>
                <a:ea typeface="Arial" pitchFamily="34" charset="-122"/>
                <a:cs typeface="Arial" pitchFamily="34" charset="-120"/>
              </a:rPr>
              <a:t>Critical OrionGate Exploitation</a:t>
            </a:r>
            <a:endParaRPr lang="en-US" sz="1050" dirty="0"/>
          </a:p>
        </p:txBody>
      </p:sp>
      <p:sp>
        <p:nvSpPr>
          <p:cNvPr id="13" name="Text 10"/>
          <p:cNvSpPr/>
          <p:nvPr/>
        </p:nvSpPr>
        <p:spPr>
          <a:xfrm>
            <a:off x="685800" y="1892808"/>
            <a:ext cx="3657600" cy="32004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Active pre-auth zero-day RCE vulnerability CVE-2026-88421.</a:t>
            </a:r>
            <a:endParaRPr lang="en-US" sz="800" dirty="0"/>
          </a:p>
        </p:txBody>
      </p:sp>
      <p:sp>
        <p:nvSpPr>
          <p:cNvPr id="14" name="Shape 11"/>
          <p:cNvSpPr/>
          <p:nvPr/>
        </p:nvSpPr>
        <p:spPr>
          <a:xfrm>
            <a:off x="4663440" y="1325880"/>
            <a:ext cx="3931920" cy="960120"/>
          </a:xfrm>
          <a:prstGeom prst="roundRect">
            <a:avLst>
              <a:gd name="adj" fmla="val 5714"/>
            </a:avLst>
          </a:prstGeom>
          <a:solidFill>
            <a:srgbClr val="FFFFFF"/>
          </a:solidFill>
          <a:ln w="9525">
            <a:solidFill>
              <a:srgbClr val="CBD5E1"/>
            </a:solidFill>
            <a:prstDash val="solid"/>
          </a:ln>
        </p:spPr>
      </p:sp>
      <p:sp>
        <p:nvSpPr>
          <p:cNvPr id="15" name="Text 12"/>
          <p:cNvSpPr/>
          <p:nvPr/>
        </p:nvSpPr>
        <p:spPr>
          <a:xfrm>
            <a:off x="4800600" y="1417320"/>
            <a:ext cx="3657600" cy="201168"/>
          </a:xfrm>
          <a:prstGeom prst="rect">
            <a:avLst/>
          </a:prstGeom>
          <a:noFill/>
          <a:ln/>
        </p:spPr>
        <p:txBody>
          <a:bodyPr wrap="square" rtlCol="0" anchor="ctr"/>
          <a:lstStyle/>
          <a:p>
            <a:pPr indent="0" marL="0">
              <a:buNone/>
            </a:pPr>
            <a:r>
              <a:rPr lang="en-US" sz="800" b="1" dirty="0">
                <a:solidFill>
                  <a:srgbClr val="1E3A8A"/>
                </a:solidFill>
                <a:latin typeface="Arial" pitchFamily="34" charset="0"/>
                <a:ea typeface="Arial" pitchFamily="34" charset="-122"/>
                <a:cs typeface="Arial" pitchFamily="34" charset="-120"/>
              </a:rPr>
              <a:t>ACTOR</a:t>
            </a:r>
            <a:endParaRPr lang="en-US" sz="800" dirty="0"/>
          </a:p>
        </p:txBody>
      </p:sp>
      <p:sp>
        <p:nvSpPr>
          <p:cNvPr id="16" name="Text 13"/>
          <p:cNvSpPr/>
          <p:nvPr/>
        </p:nvSpPr>
        <p:spPr>
          <a:xfrm>
            <a:off x="4800600" y="1618488"/>
            <a:ext cx="3657600" cy="274320"/>
          </a:xfrm>
          <a:prstGeom prst="rect">
            <a:avLst/>
          </a:prstGeom>
          <a:noFill/>
          <a:ln/>
        </p:spPr>
        <p:txBody>
          <a:bodyPr wrap="square" rtlCol="0" anchor="ctr"/>
          <a:lstStyle/>
          <a:p>
            <a:pPr indent="0" marL="0">
              <a:buNone/>
            </a:pPr>
            <a:r>
              <a:rPr lang="en-US" sz="1050" b="1" dirty="0">
                <a:solidFill>
                  <a:srgbClr val="0B1930"/>
                </a:solidFill>
                <a:latin typeface="Arial" pitchFamily="34" charset="0"/>
                <a:ea typeface="Arial" pitchFamily="34" charset="-122"/>
                <a:cs typeface="Arial" pitchFamily="34" charset="-120"/>
              </a:rPr>
              <a:t>Obsidian Kite</a:t>
            </a:r>
            <a:endParaRPr lang="en-US" sz="1050" dirty="0"/>
          </a:p>
        </p:txBody>
      </p:sp>
      <p:sp>
        <p:nvSpPr>
          <p:cNvPr id="17" name="Text 14"/>
          <p:cNvSpPr/>
          <p:nvPr/>
        </p:nvSpPr>
        <p:spPr>
          <a:xfrm>
            <a:off x="4800600" y="1892808"/>
            <a:ext cx="3657600" cy="32004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Persistent cyber espionage actor targeting perimeter edge appliances.</a:t>
            </a:r>
            <a:endParaRPr lang="en-US" sz="800" dirty="0"/>
          </a:p>
        </p:txBody>
      </p:sp>
      <p:sp>
        <p:nvSpPr>
          <p:cNvPr id="18" name="Shape 15"/>
          <p:cNvSpPr/>
          <p:nvPr/>
        </p:nvSpPr>
        <p:spPr>
          <a:xfrm>
            <a:off x="548640" y="2377440"/>
            <a:ext cx="3931920" cy="960120"/>
          </a:xfrm>
          <a:prstGeom prst="roundRect">
            <a:avLst>
              <a:gd name="adj" fmla="val 5714"/>
            </a:avLst>
          </a:prstGeom>
          <a:solidFill>
            <a:srgbClr val="FFFFFF"/>
          </a:solidFill>
          <a:ln w="9525">
            <a:solidFill>
              <a:srgbClr val="CBD5E1"/>
            </a:solidFill>
            <a:prstDash val="solid"/>
          </a:ln>
        </p:spPr>
      </p:sp>
      <p:sp>
        <p:nvSpPr>
          <p:cNvPr id="19" name="Text 16"/>
          <p:cNvSpPr/>
          <p:nvPr/>
        </p:nvSpPr>
        <p:spPr>
          <a:xfrm>
            <a:off x="685800" y="2468880"/>
            <a:ext cx="3657600" cy="201168"/>
          </a:xfrm>
          <a:prstGeom prst="rect">
            <a:avLst/>
          </a:prstGeom>
          <a:noFill/>
          <a:ln/>
        </p:spPr>
        <p:txBody>
          <a:bodyPr wrap="square" rtlCol="0" anchor="ctr"/>
          <a:lstStyle/>
          <a:p>
            <a:pPr indent="0" marL="0">
              <a:buNone/>
            </a:pPr>
            <a:r>
              <a:rPr lang="en-US" sz="800" b="1" dirty="0">
                <a:solidFill>
                  <a:srgbClr val="1E3A8A"/>
                </a:solidFill>
                <a:latin typeface="Arial" pitchFamily="34" charset="0"/>
                <a:ea typeface="Arial" pitchFamily="34" charset="-122"/>
                <a:cs typeface="Arial" pitchFamily="34" charset="-120"/>
              </a:rPr>
              <a:t>MALWARE</a:t>
            </a:r>
            <a:endParaRPr lang="en-US" sz="800" dirty="0"/>
          </a:p>
        </p:txBody>
      </p:sp>
      <p:sp>
        <p:nvSpPr>
          <p:cNvPr id="20" name="Text 17"/>
          <p:cNvSpPr/>
          <p:nvPr/>
        </p:nvSpPr>
        <p:spPr>
          <a:xfrm>
            <a:off x="685800" y="2670048"/>
            <a:ext cx="3657600" cy="274320"/>
          </a:xfrm>
          <a:prstGeom prst="rect">
            <a:avLst/>
          </a:prstGeom>
          <a:noFill/>
          <a:ln/>
        </p:spPr>
        <p:txBody>
          <a:bodyPr wrap="square" rtlCol="0" anchor="ctr"/>
          <a:lstStyle/>
          <a:p>
            <a:pPr indent="0" marL="0">
              <a:buNone/>
            </a:pPr>
            <a:r>
              <a:rPr lang="en-US" sz="1050" b="1" dirty="0">
                <a:solidFill>
                  <a:srgbClr val="0B1930"/>
                </a:solidFill>
                <a:latin typeface="Arial" pitchFamily="34" charset="0"/>
                <a:ea typeface="Arial" pitchFamily="34" charset="-122"/>
                <a:cs typeface="Arial" pitchFamily="34" charset="-120"/>
              </a:rPr>
              <a:t>NightFalcon</a:t>
            </a:r>
            <a:endParaRPr lang="en-US" sz="1050" dirty="0"/>
          </a:p>
        </p:txBody>
      </p:sp>
      <p:sp>
        <p:nvSpPr>
          <p:cNvPr id="21" name="Text 18"/>
          <p:cNvSpPr/>
          <p:nvPr/>
        </p:nvSpPr>
        <p:spPr>
          <a:xfrm>
            <a:off x="685800" y="2944368"/>
            <a:ext cx="3657600" cy="32004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Stealthy backdoor implant utilizing service persistence and TLS C2.</a:t>
            </a:r>
            <a:endParaRPr lang="en-US" sz="800" dirty="0"/>
          </a:p>
        </p:txBody>
      </p:sp>
      <p:sp>
        <p:nvSpPr>
          <p:cNvPr id="22" name="Shape 19"/>
          <p:cNvSpPr/>
          <p:nvPr/>
        </p:nvSpPr>
        <p:spPr>
          <a:xfrm>
            <a:off x="4663440" y="2377440"/>
            <a:ext cx="3931920" cy="960120"/>
          </a:xfrm>
          <a:prstGeom prst="roundRect">
            <a:avLst>
              <a:gd name="adj" fmla="val 5714"/>
            </a:avLst>
          </a:prstGeom>
          <a:solidFill>
            <a:srgbClr val="FFFFFF"/>
          </a:solidFill>
          <a:ln w="9525">
            <a:solidFill>
              <a:srgbClr val="CBD5E1"/>
            </a:solidFill>
            <a:prstDash val="solid"/>
          </a:ln>
        </p:spPr>
      </p:sp>
      <p:sp>
        <p:nvSpPr>
          <p:cNvPr id="23" name="Text 20"/>
          <p:cNvSpPr/>
          <p:nvPr/>
        </p:nvSpPr>
        <p:spPr>
          <a:xfrm>
            <a:off x="4800600" y="2468880"/>
            <a:ext cx="3657600" cy="201168"/>
          </a:xfrm>
          <a:prstGeom prst="rect">
            <a:avLst/>
          </a:prstGeom>
          <a:noFill/>
          <a:ln/>
        </p:spPr>
        <p:txBody>
          <a:bodyPr wrap="square" rtlCol="0" anchor="ctr"/>
          <a:lstStyle/>
          <a:p>
            <a:pPr indent="0" marL="0">
              <a:buNone/>
            </a:pPr>
            <a:r>
              <a:rPr lang="en-US" sz="800" b="1" dirty="0">
                <a:solidFill>
                  <a:srgbClr val="1E3A8A"/>
                </a:solidFill>
                <a:latin typeface="Arial" pitchFamily="34" charset="0"/>
                <a:ea typeface="Arial" pitchFamily="34" charset="-122"/>
                <a:cs typeface="Arial" pitchFamily="34" charset="-120"/>
              </a:rPr>
              <a:t>ACTION</a:t>
            </a:r>
            <a:endParaRPr lang="en-US" sz="800" dirty="0"/>
          </a:p>
        </p:txBody>
      </p:sp>
      <p:sp>
        <p:nvSpPr>
          <p:cNvPr id="24" name="Text 21"/>
          <p:cNvSpPr/>
          <p:nvPr/>
        </p:nvSpPr>
        <p:spPr>
          <a:xfrm>
            <a:off x="4800600" y="2670048"/>
            <a:ext cx="3657600" cy="274320"/>
          </a:xfrm>
          <a:prstGeom prst="rect">
            <a:avLst/>
          </a:prstGeom>
          <a:noFill/>
          <a:ln/>
        </p:spPr>
        <p:txBody>
          <a:bodyPr wrap="square" rtlCol="0" anchor="ctr"/>
          <a:lstStyle/>
          <a:p>
            <a:pPr indent="0" marL="0">
              <a:buNone/>
            </a:pPr>
            <a:r>
              <a:rPr lang="en-US" sz="1050" b="1" dirty="0">
                <a:solidFill>
                  <a:srgbClr val="0B1930"/>
                </a:solidFill>
                <a:latin typeface="Arial" pitchFamily="34" charset="0"/>
                <a:ea typeface="Arial" pitchFamily="34" charset="-122"/>
                <a:cs typeface="Arial" pitchFamily="34" charset="-120"/>
              </a:rPr>
              <a:t>Contain → Investigate → Patch → Monitor</a:t>
            </a:r>
            <a:endParaRPr lang="en-US" sz="1050" dirty="0"/>
          </a:p>
        </p:txBody>
      </p:sp>
      <p:sp>
        <p:nvSpPr>
          <p:cNvPr id="25" name="Text 22"/>
          <p:cNvSpPr/>
          <p:nvPr/>
        </p:nvSpPr>
        <p:spPr>
          <a:xfrm>
            <a:off x="4800600" y="2944368"/>
            <a:ext cx="3657600" cy="320040"/>
          </a:xfrm>
          <a:prstGeom prst="rect">
            <a:avLst/>
          </a:prstGeom>
          <a:noFill/>
          <a:ln/>
        </p:spPr>
        <p:txBody>
          <a:bodyPr wrap="square" rtlCol="0" anchor="ctr"/>
          <a:lstStyle/>
          <a:p>
            <a:pPr indent="0" marL="0">
              <a:buNone/>
            </a:pPr>
            <a:r>
              <a:rPr lang="en-US" sz="800" dirty="0">
                <a:solidFill>
                  <a:srgbClr val="1E293B"/>
                </a:solidFill>
                <a:latin typeface="Arial" pitchFamily="34" charset="0"/>
                <a:ea typeface="Arial" pitchFamily="34" charset="-122"/>
                <a:cs typeface="Arial" pitchFamily="34" charset="-120"/>
              </a:rPr>
              <a:t>Enforce immediate perimeter isolation and patch deployment.</a:t>
            </a:r>
            <a:endParaRPr lang="en-US" sz="800" dirty="0"/>
          </a:p>
        </p:txBody>
      </p:sp>
      <p:sp>
        <p:nvSpPr>
          <p:cNvPr id="26" name="Shape 23"/>
          <p:cNvSpPr/>
          <p:nvPr/>
        </p:nvSpPr>
        <p:spPr>
          <a:xfrm>
            <a:off x="548640" y="3566160"/>
            <a:ext cx="8046720" cy="868680"/>
          </a:xfrm>
          <a:prstGeom prst="roundRect">
            <a:avLst>
              <a:gd name="adj" fmla="val 6316"/>
            </a:avLst>
          </a:prstGeom>
          <a:solidFill>
            <a:srgbClr val="DCFCE7"/>
          </a:solidFill>
          <a:ln w="12700">
            <a:solidFill>
              <a:srgbClr val="166534"/>
            </a:solidFill>
            <a:prstDash val="solid"/>
          </a:ln>
        </p:spPr>
      </p:sp>
      <p:sp>
        <p:nvSpPr>
          <p:cNvPr id="27" name="Text 24"/>
          <p:cNvSpPr/>
          <p:nvPr/>
        </p:nvSpPr>
        <p:spPr>
          <a:xfrm>
            <a:off x="731520" y="3639312"/>
            <a:ext cx="7680960" cy="228600"/>
          </a:xfrm>
          <a:prstGeom prst="rect">
            <a:avLst/>
          </a:prstGeom>
          <a:noFill/>
          <a:ln/>
        </p:spPr>
        <p:txBody>
          <a:bodyPr wrap="square" rtlCol="0" anchor="ctr"/>
          <a:lstStyle/>
          <a:p>
            <a:pPr indent="0" marL="0">
              <a:buNone/>
            </a:pPr>
            <a:r>
              <a:rPr lang="en-US" sz="900" b="1" dirty="0">
                <a:solidFill>
                  <a:srgbClr val="166534"/>
                </a:solidFill>
                <a:latin typeface="Arial" pitchFamily="34" charset="0"/>
                <a:ea typeface="Arial" pitchFamily="34" charset="-122"/>
                <a:cs typeface="Arial" pitchFamily="34" charset="-120"/>
              </a:rPr>
              <a:t>OPERATIONAL GOVERNANCE &amp; MANDATORY AUTHORIZATION</a:t>
            </a:r>
            <a:endParaRPr lang="en-US" sz="900" dirty="0"/>
          </a:p>
        </p:txBody>
      </p:sp>
      <p:sp>
        <p:nvSpPr>
          <p:cNvPr id="28" name="Text 25"/>
          <p:cNvSpPr/>
          <p:nvPr/>
        </p:nvSpPr>
        <p:spPr>
          <a:xfrm>
            <a:off x="731520" y="3886200"/>
            <a:ext cx="7680960" cy="256032"/>
          </a:xfrm>
          <a:prstGeom prst="rect">
            <a:avLst/>
          </a:prstGeom>
          <a:noFill/>
          <a:ln/>
        </p:spPr>
        <p:txBody>
          <a:bodyPr wrap="square" rtlCol="0" anchor="ctr"/>
          <a:lstStyle/>
          <a:p>
            <a:pPr indent="0" marL="0">
              <a:buNone/>
            </a:pPr>
            <a:r>
              <a:rPr lang="en-US" sz="850" b="1" dirty="0">
                <a:solidFill>
                  <a:srgbClr val="1E293B"/>
                </a:solidFill>
                <a:latin typeface="Arial" pitchFamily="34" charset="0"/>
                <a:ea typeface="Arial" pitchFamily="34" charset="-122"/>
                <a:cs typeface="Arial" pitchFamily="34" charset="-120"/>
              </a:rPr>
              <a:t>Human review and approval required before operational dissemination.</a:t>
            </a:r>
            <a:endParaRPr lang="en-US" sz="850" dirty="0"/>
          </a:p>
        </p:txBody>
      </p:sp>
      <p:sp>
        <p:nvSpPr>
          <p:cNvPr id="29" name="Text 26"/>
          <p:cNvSpPr/>
          <p:nvPr/>
        </p:nvSpPr>
        <p:spPr>
          <a:xfrm>
            <a:off x="731520" y="4160520"/>
            <a:ext cx="7680960" cy="228600"/>
          </a:xfrm>
          <a:prstGeom prst="rect">
            <a:avLst/>
          </a:prstGeom>
          <a:noFill/>
          <a:ln/>
        </p:spPr>
        <p:txBody>
          <a:bodyPr wrap="square" rtlCol="0" anchor="ctr"/>
          <a:lstStyle/>
          <a:p>
            <a:pPr indent="0" marL="0">
              <a:buNone/>
            </a:pPr>
            <a:r>
              <a:rPr lang="en-US" sz="750" i="1" dirty="0">
                <a:solidFill>
                  <a:srgbClr val="64748B"/>
                </a:solidFill>
                <a:latin typeface="Arial" pitchFamily="34" charset="0"/>
                <a:ea typeface="Arial" pitchFamily="34" charset="-122"/>
                <a:cs typeface="Arial" pitchFamily="34" charset="-120"/>
              </a:rPr>
              <a:t>Verification Audit Reference: TAI-ADV-2026-88421 / TransformAI Engine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Slides &amp; Notes</dc:title>
  <dc:subject>PptxGenJS Presentation</dc:subject>
  <dc:creator>TransformAI Multi-Agent Intelligence Engine</dc:creator>
  <cp:lastModifiedBy>TransformAI Multi-Agent Intelligence Engine</cp:lastModifiedBy>
  <cp:revision>1</cp:revision>
  <dcterms:created xsi:type="dcterms:W3CDTF">2026-09-09T03:05:37Z</dcterms:created>
  <dcterms:modified xsi:type="dcterms:W3CDTF">2026-09-09T03:05:37Z</dcterms:modified>
</cp:coreProperties>
</file>